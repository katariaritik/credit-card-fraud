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0" r:id="rId4"/>
    <p:sldId id="258" r:id="rId5"/>
    <p:sldId id="261" r:id="rId6"/>
    <p:sldId id="259" r:id="rId7"/>
    <p:sldId id="263" r:id="rId8"/>
    <p:sldId id="265" r:id="rId9"/>
    <p:sldId id="266" r:id="rId10"/>
    <p:sldId id="267" r:id="rId11"/>
    <p:sldId id="268" r:id="rId12"/>
    <p:sldId id="262" r:id="rId13"/>
    <p:sldId id="269" r:id="rId14"/>
    <p:sldId id="270" r:id="rId15"/>
    <p:sldId id="271" r:id="rId16"/>
    <p:sldId id="273"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ohmadfaiz Motarwala" initials="MM" lastIdx="1" clrIdx="0">
    <p:extLst>
      <p:ext uri="{19B8F6BF-5375-455C-9EA6-DF929625EA0E}">
        <p15:presenceInfo xmlns:p15="http://schemas.microsoft.com/office/powerpoint/2012/main" userId="S::mohmadfaiz.motarwala@dcmail.ca::f0902eab-caa6-41a0-a169-3133f006009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1166"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_rels/data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F35CC15-B31B-4FA7-919C-0AC547421A75}"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A477BC87-CDBE-49BE-BC17-862D7242B841}">
      <dgm:prSet custT="1"/>
      <dgm:spPr/>
      <dgm:t>
        <a:bodyPr/>
        <a:lstStyle/>
        <a:p>
          <a:r>
            <a:rPr lang="en-US" sz="1400" dirty="0">
              <a:latin typeface="Times New Roman" panose="02020603050405020304" pitchFamily="18" charset="0"/>
              <a:cs typeface="Times New Roman" panose="02020603050405020304" pitchFamily="18" charset="0"/>
            </a:rPr>
            <a:t>The problem is to accurately distinguish between legitimate and fraudulent transactions in real-time to prevent financial losses and maintain trust with customers. </a:t>
          </a:r>
        </a:p>
      </dgm:t>
    </dgm:pt>
    <dgm:pt modelId="{3E5861AB-D846-4BF9-A219-179BF27B1038}" type="parTrans" cxnId="{DAF3ADD5-679F-40DD-9462-65007975C757}">
      <dgm:prSet/>
      <dgm:spPr/>
      <dgm:t>
        <a:bodyPr/>
        <a:lstStyle/>
        <a:p>
          <a:endParaRPr lang="en-US"/>
        </a:p>
      </dgm:t>
    </dgm:pt>
    <dgm:pt modelId="{512A54DE-C2F8-4655-91A3-D9997FCE99ED}" type="sibTrans" cxnId="{DAF3ADD5-679F-40DD-9462-65007975C757}">
      <dgm:prSet/>
      <dgm:spPr/>
      <dgm:t>
        <a:bodyPr/>
        <a:lstStyle/>
        <a:p>
          <a:endParaRPr lang="en-US"/>
        </a:p>
      </dgm:t>
    </dgm:pt>
    <dgm:pt modelId="{ACD82924-0091-436F-A8F3-D09DF51ADD25}">
      <dgm:prSet custT="1"/>
      <dgm:spPr/>
      <dgm:t>
        <a:bodyPr/>
        <a:lstStyle/>
        <a:p>
          <a:r>
            <a:rPr lang="en-US" sz="1400" dirty="0">
              <a:latin typeface="Times New Roman" panose="02020603050405020304" pitchFamily="18" charset="0"/>
              <a:cs typeface="Times New Roman" panose="02020603050405020304" pitchFamily="18" charset="0"/>
            </a:rPr>
            <a:t>It is difficult to analyze or detect fraud transactions without help of machine learning classifiers. This kernel helps to understand data with basic visualization and statistical methods.</a:t>
          </a:r>
        </a:p>
      </dgm:t>
    </dgm:pt>
    <dgm:pt modelId="{DF4F2321-AE94-4A58-A2A2-7D15B2A8FEF1}" type="parTrans" cxnId="{6BC8E823-F62B-4154-8BE5-911EBA688A60}">
      <dgm:prSet/>
      <dgm:spPr/>
      <dgm:t>
        <a:bodyPr/>
        <a:lstStyle/>
        <a:p>
          <a:endParaRPr lang="en-US"/>
        </a:p>
      </dgm:t>
    </dgm:pt>
    <dgm:pt modelId="{FA57F024-DC9E-4BFF-A5FC-232F76D39BCC}" type="sibTrans" cxnId="{6BC8E823-F62B-4154-8BE5-911EBA688A60}">
      <dgm:prSet/>
      <dgm:spPr/>
      <dgm:t>
        <a:bodyPr/>
        <a:lstStyle/>
        <a:p>
          <a:endParaRPr lang="en-US"/>
        </a:p>
      </dgm:t>
    </dgm:pt>
    <dgm:pt modelId="{988A83FC-5477-4034-9CA5-BD343790ACE6}" type="pres">
      <dgm:prSet presAssocID="{5F35CC15-B31B-4FA7-919C-0AC547421A75}" presName="hierChild1" presStyleCnt="0">
        <dgm:presLayoutVars>
          <dgm:chPref val="1"/>
          <dgm:dir/>
          <dgm:animOne val="branch"/>
          <dgm:animLvl val="lvl"/>
          <dgm:resizeHandles/>
        </dgm:presLayoutVars>
      </dgm:prSet>
      <dgm:spPr/>
    </dgm:pt>
    <dgm:pt modelId="{15996245-FC16-4A1C-A59C-34EA2BB19651}" type="pres">
      <dgm:prSet presAssocID="{A477BC87-CDBE-49BE-BC17-862D7242B841}" presName="hierRoot1" presStyleCnt="0"/>
      <dgm:spPr/>
    </dgm:pt>
    <dgm:pt modelId="{5BC67BD3-8CA2-4DA3-BBA9-B3E59F712EE6}" type="pres">
      <dgm:prSet presAssocID="{A477BC87-CDBE-49BE-BC17-862D7242B841}" presName="composite" presStyleCnt="0"/>
      <dgm:spPr/>
    </dgm:pt>
    <dgm:pt modelId="{BCAE5D97-EA6C-4108-844D-20F255C353BF}" type="pres">
      <dgm:prSet presAssocID="{A477BC87-CDBE-49BE-BC17-862D7242B841}" presName="background" presStyleLbl="node0" presStyleIdx="0" presStyleCnt="2"/>
      <dgm:spPr/>
    </dgm:pt>
    <dgm:pt modelId="{427E52EA-BC5B-4702-AC08-79EEC0A3C1E7}" type="pres">
      <dgm:prSet presAssocID="{A477BC87-CDBE-49BE-BC17-862D7242B841}" presName="text" presStyleLbl="fgAcc0" presStyleIdx="0" presStyleCnt="2">
        <dgm:presLayoutVars>
          <dgm:chPref val="3"/>
        </dgm:presLayoutVars>
      </dgm:prSet>
      <dgm:spPr/>
    </dgm:pt>
    <dgm:pt modelId="{20FEE208-8D93-4888-881A-CF975F89B623}" type="pres">
      <dgm:prSet presAssocID="{A477BC87-CDBE-49BE-BC17-862D7242B841}" presName="hierChild2" presStyleCnt="0"/>
      <dgm:spPr/>
    </dgm:pt>
    <dgm:pt modelId="{EF46B388-4B9E-4317-8F16-6B0CFEFFF65E}" type="pres">
      <dgm:prSet presAssocID="{ACD82924-0091-436F-A8F3-D09DF51ADD25}" presName="hierRoot1" presStyleCnt="0"/>
      <dgm:spPr/>
    </dgm:pt>
    <dgm:pt modelId="{E845C7E8-F4AE-4D2B-90F8-707727AEB90D}" type="pres">
      <dgm:prSet presAssocID="{ACD82924-0091-436F-A8F3-D09DF51ADD25}" presName="composite" presStyleCnt="0"/>
      <dgm:spPr/>
    </dgm:pt>
    <dgm:pt modelId="{1A1521FC-897C-4AA9-90C7-C16D93731BC6}" type="pres">
      <dgm:prSet presAssocID="{ACD82924-0091-436F-A8F3-D09DF51ADD25}" presName="background" presStyleLbl="node0" presStyleIdx="1" presStyleCnt="2"/>
      <dgm:spPr/>
    </dgm:pt>
    <dgm:pt modelId="{5942C7DC-C721-47CB-992F-2F6B123048EE}" type="pres">
      <dgm:prSet presAssocID="{ACD82924-0091-436F-A8F3-D09DF51ADD25}" presName="text" presStyleLbl="fgAcc0" presStyleIdx="1" presStyleCnt="2">
        <dgm:presLayoutVars>
          <dgm:chPref val="3"/>
        </dgm:presLayoutVars>
      </dgm:prSet>
      <dgm:spPr/>
    </dgm:pt>
    <dgm:pt modelId="{4AD30BAB-D931-475A-BBB0-B95E7333B3BF}" type="pres">
      <dgm:prSet presAssocID="{ACD82924-0091-436F-A8F3-D09DF51ADD25}" presName="hierChild2" presStyleCnt="0"/>
      <dgm:spPr/>
    </dgm:pt>
  </dgm:ptLst>
  <dgm:cxnLst>
    <dgm:cxn modelId="{6BC8E823-F62B-4154-8BE5-911EBA688A60}" srcId="{5F35CC15-B31B-4FA7-919C-0AC547421A75}" destId="{ACD82924-0091-436F-A8F3-D09DF51ADD25}" srcOrd="1" destOrd="0" parTransId="{DF4F2321-AE94-4A58-A2A2-7D15B2A8FEF1}" sibTransId="{FA57F024-DC9E-4BFF-A5FC-232F76D39BCC}"/>
    <dgm:cxn modelId="{E4C1DC3B-810B-4AF2-B765-EE3F3627F98E}" type="presOf" srcId="{ACD82924-0091-436F-A8F3-D09DF51ADD25}" destId="{5942C7DC-C721-47CB-992F-2F6B123048EE}" srcOrd="0" destOrd="0" presId="urn:microsoft.com/office/officeart/2005/8/layout/hierarchy1"/>
    <dgm:cxn modelId="{8AA19C5E-CBAE-4D73-9B9B-BC1488FAEB71}" type="presOf" srcId="{5F35CC15-B31B-4FA7-919C-0AC547421A75}" destId="{988A83FC-5477-4034-9CA5-BD343790ACE6}" srcOrd="0" destOrd="0" presId="urn:microsoft.com/office/officeart/2005/8/layout/hierarchy1"/>
    <dgm:cxn modelId="{70AA8D67-E589-4678-A2C1-396107818E73}" type="presOf" srcId="{A477BC87-CDBE-49BE-BC17-862D7242B841}" destId="{427E52EA-BC5B-4702-AC08-79EEC0A3C1E7}" srcOrd="0" destOrd="0" presId="urn:microsoft.com/office/officeart/2005/8/layout/hierarchy1"/>
    <dgm:cxn modelId="{DAF3ADD5-679F-40DD-9462-65007975C757}" srcId="{5F35CC15-B31B-4FA7-919C-0AC547421A75}" destId="{A477BC87-CDBE-49BE-BC17-862D7242B841}" srcOrd="0" destOrd="0" parTransId="{3E5861AB-D846-4BF9-A219-179BF27B1038}" sibTransId="{512A54DE-C2F8-4655-91A3-D9997FCE99ED}"/>
    <dgm:cxn modelId="{A1603D8E-09F5-4962-8D66-B2A7AA4F5FA9}" type="presParOf" srcId="{988A83FC-5477-4034-9CA5-BD343790ACE6}" destId="{15996245-FC16-4A1C-A59C-34EA2BB19651}" srcOrd="0" destOrd="0" presId="urn:microsoft.com/office/officeart/2005/8/layout/hierarchy1"/>
    <dgm:cxn modelId="{2B5AF483-EE3E-4ED0-8D2B-34858DF76E9D}" type="presParOf" srcId="{15996245-FC16-4A1C-A59C-34EA2BB19651}" destId="{5BC67BD3-8CA2-4DA3-BBA9-B3E59F712EE6}" srcOrd="0" destOrd="0" presId="urn:microsoft.com/office/officeart/2005/8/layout/hierarchy1"/>
    <dgm:cxn modelId="{FFD2541C-CAFC-4B23-A4E8-BB8C7764523E}" type="presParOf" srcId="{5BC67BD3-8CA2-4DA3-BBA9-B3E59F712EE6}" destId="{BCAE5D97-EA6C-4108-844D-20F255C353BF}" srcOrd="0" destOrd="0" presId="urn:microsoft.com/office/officeart/2005/8/layout/hierarchy1"/>
    <dgm:cxn modelId="{1B9BF4FD-F99A-473D-83A8-159CE83F8695}" type="presParOf" srcId="{5BC67BD3-8CA2-4DA3-BBA9-B3E59F712EE6}" destId="{427E52EA-BC5B-4702-AC08-79EEC0A3C1E7}" srcOrd="1" destOrd="0" presId="urn:microsoft.com/office/officeart/2005/8/layout/hierarchy1"/>
    <dgm:cxn modelId="{1D4EDE74-794D-43ED-8DA6-E18A22F443F9}" type="presParOf" srcId="{15996245-FC16-4A1C-A59C-34EA2BB19651}" destId="{20FEE208-8D93-4888-881A-CF975F89B623}" srcOrd="1" destOrd="0" presId="urn:microsoft.com/office/officeart/2005/8/layout/hierarchy1"/>
    <dgm:cxn modelId="{F1B83A05-E0A8-4D22-8A57-73602C20CE8A}" type="presParOf" srcId="{988A83FC-5477-4034-9CA5-BD343790ACE6}" destId="{EF46B388-4B9E-4317-8F16-6B0CFEFFF65E}" srcOrd="1" destOrd="0" presId="urn:microsoft.com/office/officeart/2005/8/layout/hierarchy1"/>
    <dgm:cxn modelId="{319D3BCD-0DBC-4192-9AAA-464ED97408AA}" type="presParOf" srcId="{EF46B388-4B9E-4317-8F16-6B0CFEFFF65E}" destId="{E845C7E8-F4AE-4D2B-90F8-707727AEB90D}" srcOrd="0" destOrd="0" presId="urn:microsoft.com/office/officeart/2005/8/layout/hierarchy1"/>
    <dgm:cxn modelId="{544B0264-DFA5-478C-A808-9AD6E48136FF}" type="presParOf" srcId="{E845C7E8-F4AE-4D2B-90F8-707727AEB90D}" destId="{1A1521FC-897C-4AA9-90C7-C16D93731BC6}" srcOrd="0" destOrd="0" presId="urn:microsoft.com/office/officeart/2005/8/layout/hierarchy1"/>
    <dgm:cxn modelId="{E4026AB5-8A9E-4A63-A461-905A425A251B}" type="presParOf" srcId="{E845C7E8-F4AE-4D2B-90F8-707727AEB90D}" destId="{5942C7DC-C721-47CB-992F-2F6B123048EE}" srcOrd="1" destOrd="0" presId="urn:microsoft.com/office/officeart/2005/8/layout/hierarchy1"/>
    <dgm:cxn modelId="{0B565D27-82E6-487C-80EA-C7BD8C64D2A3}" type="presParOf" srcId="{EF46B388-4B9E-4317-8F16-6B0CFEFFF65E}" destId="{4AD30BAB-D931-475A-BBB0-B95E7333B3BF}"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A633550-F7D6-480D-B87A-3F1DEADAD403}" type="doc">
      <dgm:prSet loTypeId="urn:microsoft.com/office/officeart/2018/2/layout/IconVerticalSolidList" loCatId="icon" qsTypeId="urn:microsoft.com/office/officeart/2005/8/quickstyle/simple1" qsCatId="simple" csTypeId="urn:microsoft.com/office/officeart/2018/5/colors/Iconchunking_neutralbg_colorful2" csCatId="colorful" phldr="1"/>
      <dgm:spPr/>
      <dgm:t>
        <a:bodyPr/>
        <a:lstStyle/>
        <a:p>
          <a:endParaRPr lang="en-US"/>
        </a:p>
      </dgm:t>
    </dgm:pt>
    <dgm:pt modelId="{9B0705E1-D487-4D46-8D0F-D52BE0E38BE9}">
      <dgm:prSet custT="1"/>
      <dgm:spPr/>
      <dgm:t>
        <a:bodyPr/>
        <a:lstStyle/>
        <a:p>
          <a:pPr>
            <a:lnSpc>
              <a:spcPct val="100000"/>
            </a:lnSpc>
          </a:pPr>
          <a:r>
            <a:rPr lang="en-US" sz="1400" dirty="0">
              <a:latin typeface="Times New Roman" panose="02020603050405020304" pitchFamily="18" charset="0"/>
              <a:cs typeface="Times New Roman" panose="02020603050405020304" pitchFamily="18" charset="0"/>
            </a:rPr>
            <a:t>Financial Impact: Credit card fraud causes significant financial losses for banks and individuals through reimbursement costs, investigation expenses, and credit score damage.</a:t>
          </a:r>
        </a:p>
      </dgm:t>
    </dgm:pt>
    <dgm:pt modelId="{B62890EA-80BB-4499-ACC0-2DA9F6BA1FE6}" type="parTrans" cxnId="{AE418808-1466-4B3A-AEE1-C105EDF064FF}">
      <dgm:prSet/>
      <dgm:spPr/>
      <dgm:t>
        <a:bodyPr/>
        <a:lstStyle/>
        <a:p>
          <a:endParaRPr lang="en-US"/>
        </a:p>
      </dgm:t>
    </dgm:pt>
    <dgm:pt modelId="{D9377B67-9DD0-4E7B-90E4-93F4A872D00E}" type="sibTrans" cxnId="{AE418808-1466-4B3A-AEE1-C105EDF064FF}">
      <dgm:prSet/>
      <dgm:spPr/>
      <dgm:t>
        <a:bodyPr/>
        <a:lstStyle/>
        <a:p>
          <a:pPr>
            <a:lnSpc>
              <a:spcPct val="100000"/>
            </a:lnSpc>
          </a:pPr>
          <a:endParaRPr lang="en-US"/>
        </a:p>
      </dgm:t>
    </dgm:pt>
    <dgm:pt modelId="{22F93C62-E6A9-4668-A441-0BEF6D7740E8}">
      <dgm:prSet custT="1"/>
      <dgm:spPr/>
      <dgm:t>
        <a:bodyPr/>
        <a:lstStyle/>
        <a:p>
          <a:pPr>
            <a:lnSpc>
              <a:spcPct val="100000"/>
            </a:lnSpc>
          </a:pPr>
          <a:r>
            <a:rPr lang="en-US" sz="1400" dirty="0">
              <a:latin typeface="Times New Roman" panose="02020603050405020304" pitchFamily="18" charset="0"/>
              <a:cs typeface="Times New Roman" panose="02020603050405020304" pitchFamily="18" charset="0"/>
            </a:rPr>
            <a:t>Trust and Reputation: Fraud undermines trust in financial institutions, leading to reputational damage and potential customer churn, impacting long-term loyalty and market share.</a:t>
          </a:r>
        </a:p>
      </dgm:t>
    </dgm:pt>
    <dgm:pt modelId="{7EE51317-9247-4151-8B99-F2FAFB6F32EC}" type="parTrans" cxnId="{3DB6096A-AED3-4F9A-81E3-9555B78BA0E3}">
      <dgm:prSet/>
      <dgm:spPr/>
      <dgm:t>
        <a:bodyPr/>
        <a:lstStyle/>
        <a:p>
          <a:endParaRPr lang="en-US"/>
        </a:p>
      </dgm:t>
    </dgm:pt>
    <dgm:pt modelId="{2AC9B971-51EB-4B4D-962E-A635576289FC}" type="sibTrans" cxnId="{3DB6096A-AED3-4F9A-81E3-9555B78BA0E3}">
      <dgm:prSet/>
      <dgm:spPr/>
      <dgm:t>
        <a:bodyPr/>
        <a:lstStyle/>
        <a:p>
          <a:pPr>
            <a:lnSpc>
              <a:spcPct val="100000"/>
            </a:lnSpc>
          </a:pPr>
          <a:endParaRPr lang="en-US"/>
        </a:p>
      </dgm:t>
    </dgm:pt>
    <dgm:pt modelId="{24E36938-937D-4FA9-B79F-4CC88AB44CFE}">
      <dgm:prSet custT="1"/>
      <dgm:spPr/>
      <dgm:t>
        <a:bodyPr/>
        <a:lstStyle/>
        <a:p>
          <a:pPr>
            <a:lnSpc>
              <a:spcPct val="100000"/>
            </a:lnSpc>
          </a:pPr>
          <a:r>
            <a:rPr lang="en-US" sz="1400" dirty="0">
              <a:latin typeface="Times New Roman" panose="02020603050405020304" pitchFamily="18" charset="0"/>
              <a:cs typeface="Times New Roman" panose="02020603050405020304" pitchFamily="18" charset="0"/>
            </a:rPr>
            <a:t>Economic Consequences: Credit card fraud lowers consumer confidence, reducing spending and economic activity. Costs of prevention measures divert resources, while higher prices affect purchasing power, hindering economic growth.</a:t>
          </a:r>
        </a:p>
      </dgm:t>
    </dgm:pt>
    <dgm:pt modelId="{9B5C8D12-E275-438E-B966-6B4956DA3E74}" type="parTrans" cxnId="{C9B26C9A-4789-48AD-8B6E-E05ADF804AEE}">
      <dgm:prSet/>
      <dgm:spPr/>
      <dgm:t>
        <a:bodyPr/>
        <a:lstStyle/>
        <a:p>
          <a:endParaRPr lang="en-US"/>
        </a:p>
      </dgm:t>
    </dgm:pt>
    <dgm:pt modelId="{399D71F3-E937-4895-B97B-4471C505C33C}" type="sibTrans" cxnId="{C9B26C9A-4789-48AD-8B6E-E05ADF804AEE}">
      <dgm:prSet/>
      <dgm:spPr/>
      <dgm:t>
        <a:bodyPr/>
        <a:lstStyle/>
        <a:p>
          <a:endParaRPr lang="en-US"/>
        </a:p>
      </dgm:t>
    </dgm:pt>
    <dgm:pt modelId="{99CBB194-366B-4DCA-B22C-E7F4C0D85F9A}" type="pres">
      <dgm:prSet presAssocID="{CA633550-F7D6-480D-B87A-3F1DEADAD403}" presName="root" presStyleCnt="0">
        <dgm:presLayoutVars>
          <dgm:dir/>
          <dgm:resizeHandles val="exact"/>
        </dgm:presLayoutVars>
      </dgm:prSet>
      <dgm:spPr/>
    </dgm:pt>
    <dgm:pt modelId="{956AC486-5421-4172-9215-E843230BB8BE}" type="pres">
      <dgm:prSet presAssocID="{9B0705E1-D487-4D46-8D0F-D52BE0E38BE9}" presName="compNode" presStyleCnt="0"/>
      <dgm:spPr/>
    </dgm:pt>
    <dgm:pt modelId="{56C3DB1B-671D-4239-AB52-13E2D3035556}" type="pres">
      <dgm:prSet presAssocID="{9B0705E1-D487-4D46-8D0F-D52BE0E38BE9}" presName="bgRect" presStyleLbl="bgShp" presStyleIdx="0" presStyleCnt="3"/>
      <dgm:spPr/>
    </dgm:pt>
    <dgm:pt modelId="{8C225972-DDE9-4564-8025-BD6673D19B4A}" type="pres">
      <dgm:prSet presAssocID="{9B0705E1-D487-4D46-8D0F-D52BE0E38BE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redit card"/>
        </a:ext>
      </dgm:extLst>
    </dgm:pt>
    <dgm:pt modelId="{A588573F-D791-4AF2-BA45-2B09D569402C}" type="pres">
      <dgm:prSet presAssocID="{9B0705E1-D487-4D46-8D0F-D52BE0E38BE9}" presName="spaceRect" presStyleCnt="0"/>
      <dgm:spPr/>
    </dgm:pt>
    <dgm:pt modelId="{BB8973F3-9ED4-431D-BE0A-D62EFC9F63D2}" type="pres">
      <dgm:prSet presAssocID="{9B0705E1-D487-4D46-8D0F-D52BE0E38BE9}" presName="parTx" presStyleLbl="revTx" presStyleIdx="0" presStyleCnt="3">
        <dgm:presLayoutVars>
          <dgm:chMax val="0"/>
          <dgm:chPref val="0"/>
        </dgm:presLayoutVars>
      </dgm:prSet>
      <dgm:spPr/>
    </dgm:pt>
    <dgm:pt modelId="{C16CFD30-FE54-4679-8A00-0DF53476A406}" type="pres">
      <dgm:prSet presAssocID="{D9377B67-9DD0-4E7B-90E4-93F4A872D00E}" presName="sibTrans" presStyleCnt="0"/>
      <dgm:spPr/>
    </dgm:pt>
    <dgm:pt modelId="{0B548DE5-7C04-4EF4-A559-E105F0907891}" type="pres">
      <dgm:prSet presAssocID="{22F93C62-E6A9-4668-A441-0BEF6D7740E8}" presName="compNode" presStyleCnt="0"/>
      <dgm:spPr/>
    </dgm:pt>
    <dgm:pt modelId="{AABE82AD-548E-4DC5-A51D-46D5405CAD65}" type="pres">
      <dgm:prSet presAssocID="{22F93C62-E6A9-4668-A441-0BEF6D7740E8}" presName="bgRect" presStyleLbl="bgShp" presStyleIdx="1" presStyleCnt="3"/>
      <dgm:spPr/>
    </dgm:pt>
    <dgm:pt modelId="{31CA1444-1A8D-4F41-9400-ACC7B08FFC33}" type="pres">
      <dgm:prSet presAssocID="{22F93C62-E6A9-4668-A441-0BEF6D7740E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obber"/>
        </a:ext>
      </dgm:extLst>
    </dgm:pt>
    <dgm:pt modelId="{56D94E24-79F1-4C75-9668-A0D9521B9717}" type="pres">
      <dgm:prSet presAssocID="{22F93C62-E6A9-4668-A441-0BEF6D7740E8}" presName="spaceRect" presStyleCnt="0"/>
      <dgm:spPr/>
    </dgm:pt>
    <dgm:pt modelId="{571B01CC-CEA5-468C-9316-F4422B03EDAD}" type="pres">
      <dgm:prSet presAssocID="{22F93C62-E6A9-4668-A441-0BEF6D7740E8}" presName="parTx" presStyleLbl="revTx" presStyleIdx="1" presStyleCnt="3">
        <dgm:presLayoutVars>
          <dgm:chMax val="0"/>
          <dgm:chPref val="0"/>
        </dgm:presLayoutVars>
      </dgm:prSet>
      <dgm:spPr/>
    </dgm:pt>
    <dgm:pt modelId="{F18FC6BE-5DAE-422D-8D19-70C440B08FD9}" type="pres">
      <dgm:prSet presAssocID="{2AC9B971-51EB-4B4D-962E-A635576289FC}" presName="sibTrans" presStyleCnt="0"/>
      <dgm:spPr/>
    </dgm:pt>
    <dgm:pt modelId="{E726DB1E-BA80-4030-83B2-5F27D8AE5087}" type="pres">
      <dgm:prSet presAssocID="{24E36938-937D-4FA9-B79F-4CC88AB44CFE}" presName="compNode" presStyleCnt="0"/>
      <dgm:spPr/>
    </dgm:pt>
    <dgm:pt modelId="{37EA96D3-B0E9-40C2-862A-4046CDC7DA8A}" type="pres">
      <dgm:prSet presAssocID="{24E36938-937D-4FA9-B79F-4CC88AB44CFE}" presName="bgRect" presStyleLbl="bgShp" presStyleIdx="2" presStyleCnt="3"/>
      <dgm:spPr/>
    </dgm:pt>
    <dgm:pt modelId="{CB46E876-08C5-4FA1-BB28-BC989C9AF94D}" type="pres">
      <dgm:prSet presAssocID="{24E36938-937D-4FA9-B79F-4CC88AB44CF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oney"/>
        </a:ext>
      </dgm:extLst>
    </dgm:pt>
    <dgm:pt modelId="{7FB88ADE-97D9-48AB-8AB3-F4235189C4A5}" type="pres">
      <dgm:prSet presAssocID="{24E36938-937D-4FA9-B79F-4CC88AB44CFE}" presName="spaceRect" presStyleCnt="0"/>
      <dgm:spPr/>
    </dgm:pt>
    <dgm:pt modelId="{676827E2-DE62-45FB-AFD4-DB8F93B8552F}" type="pres">
      <dgm:prSet presAssocID="{24E36938-937D-4FA9-B79F-4CC88AB44CFE}" presName="parTx" presStyleLbl="revTx" presStyleIdx="2" presStyleCnt="3">
        <dgm:presLayoutVars>
          <dgm:chMax val="0"/>
          <dgm:chPref val="0"/>
        </dgm:presLayoutVars>
      </dgm:prSet>
      <dgm:spPr/>
    </dgm:pt>
  </dgm:ptLst>
  <dgm:cxnLst>
    <dgm:cxn modelId="{AE418808-1466-4B3A-AEE1-C105EDF064FF}" srcId="{CA633550-F7D6-480D-B87A-3F1DEADAD403}" destId="{9B0705E1-D487-4D46-8D0F-D52BE0E38BE9}" srcOrd="0" destOrd="0" parTransId="{B62890EA-80BB-4499-ACC0-2DA9F6BA1FE6}" sibTransId="{D9377B67-9DD0-4E7B-90E4-93F4A872D00E}"/>
    <dgm:cxn modelId="{B20CA93C-BB27-40A2-A37B-5B409E2FCBCC}" type="presOf" srcId="{9B0705E1-D487-4D46-8D0F-D52BE0E38BE9}" destId="{BB8973F3-9ED4-431D-BE0A-D62EFC9F63D2}" srcOrd="0" destOrd="0" presId="urn:microsoft.com/office/officeart/2018/2/layout/IconVerticalSolidList"/>
    <dgm:cxn modelId="{3DB6096A-AED3-4F9A-81E3-9555B78BA0E3}" srcId="{CA633550-F7D6-480D-B87A-3F1DEADAD403}" destId="{22F93C62-E6A9-4668-A441-0BEF6D7740E8}" srcOrd="1" destOrd="0" parTransId="{7EE51317-9247-4151-8B99-F2FAFB6F32EC}" sibTransId="{2AC9B971-51EB-4B4D-962E-A635576289FC}"/>
    <dgm:cxn modelId="{C9B26C9A-4789-48AD-8B6E-E05ADF804AEE}" srcId="{CA633550-F7D6-480D-B87A-3F1DEADAD403}" destId="{24E36938-937D-4FA9-B79F-4CC88AB44CFE}" srcOrd="2" destOrd="0" parTransId="{9B5C8D12-E275-438E-B966-6B4956DA3E74}" sibTransId="{399D71F3-E937-4895-B97B-4471C505C33C}"/>
    <dgm:cxn modelId="{9D79FCD8-D8DE-4233-A942-7F5499E4280F}" type="presOf" srcId="{24E36938-937D-4FA9-B79F-4CC88AB44CFE}" destId="{676827E2-DE62-45FB-AFD4-DB8F93B8552F}" srcOrd="0" destOrd="0" presId="urn:microsoft.com/office/officeart/2018/2/layout/IconVerticalSolidList"/>
    <dgm:cxn modelId="{BF719BE6-CD83-4A42-A1A9-B783E0432846}" type="presOf" srcId="{CA633550-F7D6-480D-B87A-3F1DEADAD403}" destId="{99CBB194-366B-4DCA-B22C-E7F4C0D85F9A}" srcOrd="0" destOrd="0" presId="urn:microsoft.com/office/officeart/2018/2/layout/IconVerticalSolidList"/>
    <dgm:cxn modelId="{99598CF4-3860-4AFB-B393-0FBD46DF3BA3}" type="presOf" srcId="{22F93C62-E6A9-4668-A441-0BEF6D7740E8}" destId="{571B01CC-CEA5-468C-9316-F4422B03EDAD}" srcOrd="0" destOrd="0" presId="urn:microsoft.com/office/officeart/2018/2/layout/IconVerticalSolidList"/>
    <dgm:cxn modelId="{C8A6C292-DC47-4858-BA27-EB76EEC85284}" type="presParOf" srcId="{99CBB194-366B-4DCA-B22C-E7F4C0D85F9A}" destId="{956AC486-5421-4172-9215-E843230BB8BE}" srcOrd="0" destOrd="0" presId="urn:microsoft.com/office/officeart/2018/2/layout/IconVerticalSolidList"/>
    <dgm:cxn modelId="{532C21CB-3C77-4C81-AFD0-8A9B7225BD22}" type="presParOf" srcId="{956AC486-5421-4172-9215-E843230BB8BE}" destId="{56C3DB1B-671D-4239-AB52-13E2D3035556}" srcOrd="0" destOrd="0" presId="urn:microsoft.com/office/officeart/2018/2/layout/IconVerticalSolidList"/>
    <dgm:cxn modelId="{48CE5376-89D7-4B64-BDF9-5C301EC5A36C}" type="presParOf" srcId="{956AC486-5421-4172-9215-E843230BB8BE}" destId="{8C225972-DDE9-4564-8025-BD6673D19B4A}" srcOrd="1" destOrd="0" presId="urn:microsoft.com/office/officeart/2018/2/layout/IconVerticalSolidList"/>
    <dgm:cxn modelId="{AA48C08D-4CCD-44A8-9A80-D98D0A3EAC14}" type="presParOf" srcId="{956AC486-5421-4172-9215-E843230BB8BE}" destId="{A588573F-D791-4AF2-BA45-2B09D569402C}" srcOrd="2" destOrd="0" presId="urn:microsoft.com/office/officeart/2018/2/layout/IconVerticalSolidList"/>
    <dgm:cxn modelId="{B328796E-2B4B-4DB0-B41B-B35BD419CB54}" type="presParOf" srcId="{956AC486-5421-4172-9215-E843230BB8BE}" destId="{BB8973F3-9ED4-431D-BE0A-D62EFC9F63D2}" srcOrd="3" destOrd="0" presId="urn:microsoft.com/office/officeart/2018/2/layout/IconVerticalSolidList"/>
    <dgm:cxn modelId="{ED99B047-1B37-4921-B258-7F2E6D6F76DF}" type="presParOf" srcId="{99CBB194-366B-4DCA-B22C-E7F4C0D85F9A}" destId="{C16CFD30-FE54-4679-8A00-0DF53476A406}" srcOrd="1" destOrd="0" presId="urn:microsoft.com/office/officeart/2018/2/layout/IconVerticalSolidList"/>
    <dgm:cxn modelId="{2BEF7AC5-037D-4941-BC40-8C4CB3346A65}" type="presParOf" srcId="{99CBB194-366B-4DCA-B22C-E7F4C0D85F9A}" destId="{0B548DE5-7C04-4EF4-A559-E105F0907891}" srcOrd="2" destOrd="0" presId="urn:microsoft.com/office/officeart/2018/2/layout/IconVerticalSolidList"/>
    <dgm:cxn modelId="{FE31D88D-59A0-4AFC-AE7A-1D44FF6C5686}" type="presParOf" srcId="{0B548DE5-7C04-4EF4-A559-E105F0907891}" destId="{AABE82AD-548E-4DC5-A51D-46D5405CAD65}" srcOrd="0" destOrd="0" presId="urn:microsoft.com/office/officeart/2018/2/layout/IconVerticalSolidList"/>
    <dgm:cxn modelId="{D0485559-D78F-416D-9A89-03D46A908D94}" type="presParOf" srcId="{0B548DE5-7C04-4EF4-A559-E105F0907891}" destId="{31CA1444-1A8D-4F41-9400-ACC7B08FFC33}" srcOrd="1" destOrd="0" presId="urn:microsoft.com/office/officeart/2018/2/layout/IconVerticalSolidList"/>
    <dgm:cxn modelId="{8CAD211B-349F-4804-B869-90C8544FACA3}" type="presParOf" srcId="{0B548DE5-7C04-4EF4-A559-E105F0907891}" destId="{56D94E24-79F1-4C75-9668-A0D9521B9717}" srcOrd="2" destOrd="0" presId="urn:microsoft.com/office/officeart/2018/2/layout/IconVerticalSolidList"/>
    <dgm:cxn modelId="{4904FE18-C3B3-4D94-8040-C62D6D3D6A9D}" type="presParOf" srcId="{0B548DE5-7C04-4EF4-A559-E105F0907891}" destId="{571B01CC-CEA5-468C-9316-F4422B03EDAD}" srcOrd="3" destOrd="0" presId="urn:microsoft.com/office/officeart/2018/2/layout/IconVerticalSolidList"/>
    <dgm:cxn modelId="{B7C66926-5009-4E84-B6CF-3165D6A348C5}" type="presParOf" srcId="{99CBB194-366B-4DCA-B22C-E7F4C0D85F9A}" destId="{F18FC6BE-5DAE-422D-8D19-70C440B08FD9}" srcOrd="3" destOrd="0" presId="urn:microsoft.com/office/officeart/2018/2/layout/IconVerticalSolidList"/>
    <dgm:cxn modelId="{41E560D4-32ED-4067-8E81-75EEF0113BF3}" type="presParOf" srcId="{99CBB194-366B-4DCA-B22C-E7F4C0D85F9A}" destId="{E726DB1E-BA80-4030-83B2-5F27D8AE5087}" srcOrd="4" destOrd="0" presId="urn:microsoft.com/office/officeart/2018/2/layout/IconVerticalSolidList"/>
    <dgm:cxn modelId="{1C0D0C52-47B5-4D6B-8BB4-65E69D9D6617}" type="presParOf" srcId="{E726DB1E-BA80-4030-83B2-5F27D8AE5087}" destId="{37EA96D3-B0E9-40C2-862A-4046CDC7DA8A}" srcOrd="0" destOrd="0" presId="urn:microsoft.com/office/officeart/2018/2/layout/IconVerticalSolidList"/>
    <dgm:cxn modelId="{FCC15CA5-0B55-4D55-8608-B8DB8AC4E3C3}" type="presParOf" srcId="{E726DB1E-BA80-4030-83B2-5F27D8AE5087}" destId="{CB46E876-08C5-4FA1-BB28-BC989C9AF94D}" srcOrd="1" destOrd="0" presId="urn:microsoft.com/office/officeart/2018/2/layout/IconVerticalSolidList"/>
    <dgm:cxn modelId="{9FC50849-2D78-41CC-988D-5DD7422F74A2}" type="presParOf" srcId="{E726DB1E-BA80-4030-83B2-5F27D8AE5087}" destId="{7FB88ADE-97D9-48AB-8AB3-F4235189C4A5}" srcOrd="2" destOrd="0" presId="urn:microsoft.com/office/officeart/2018/2/layout/IconVerticalSolidList"/>
    <dgm:cxn modelId="{C7717E3F-82D2-4DC9-B953-327D6F442B10}" type="presParOf" srcId="{E726DB1E-BA80-4030-83B2-5F27D8AE5087}" destId="{676827E2-DE62-45FB-AFD4-DB8F93B8552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AE5D97-EA6C-4108-844D-20F255C353BF}">
      <dsp:nvSpPr>
        <dsp:cNvPr id="0" name=""/>
        <dsp:cNvSpPr/>
      </dsp:nvSpPr>
      <dsp:spPr>
        <a:xfrm>
          <a:off x="658" y="928942"/>
          <a:ext cx="2312071" cy="146816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7E52EA-BC5B-4702-AC08-79EEC0A3C1E7}">
      <dsp:nvSpPr>
        <dsp:cNvPr id="0" name=""/>
        <dsp:cNvSpPr/>
      </dsp:nvSpPr>
      <dsp:spPr>
        <a:xfrm>
          <a:off x="257555" y="1172994"/>
          <a:ext cx="2312071" cy="146816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The problem is to accurately distinguish between legitimate and fraudulent transactions in real-time to prevent financial losses and maintain trust with customers. </a:t>
          </a:r>
        </a:p>
      </dsp:txBody>
      <dsp:txXfrm>
        <a:off x="300556" y="1215995"/>
        <a:ext cx="2226069" cy="1382163"/>
      </dsp:txXfrm>
    </dsp:sp>
    <dsp:sp modelId="{1A1521FC-897C-4AA9-90C7-C16D93731BC6}">
      <dsp:nvSpPr>
        <dsp:cNvPr id="0" name=""/>
        <dsp:cNvSpPr/>
      </dsp:nvSpPr>
      <dsp:spPr>
        <a:xfrm>
          <a:off x="2826523" y="928942"/>
          <a:ext cx="2312071" cy="146816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42C7DC-C721-47CB-992F-2F6B123048EE}">
      <dsp:nvSpPr>
        <dsp:cNvPr id="0" name=""/>
        <dsp:cNvSpPr/>
      </dsp:nvSpPr>
      <dsp:spPr>
        <a:xfrm>
          <a:off x="3083420" y="1172994"/>
          <a:ext cx="2312071" cy="146816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It is difficult to analyze or detect fraud transactions without help of machine learning classifiers. This kernel helps to understand data with basic visualization and statistical methods.</a:t>
          </a:r>
        </a:p>
      </dsp:txBody>
      <dsp:txXfrm>
        <a:off x="3126421" y="1215995"/>
        <a:ext cx="2226069" cy="13821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C3DB1B-671D-4239-AB52-13E2D3035556}">
      <dsp:nvSpPr>
        <dsp:cNvPr id="0" name=""/>
        <dsp:cNvSpPr/>
      </dsp:nvSpPr>
      <dsp:spPr>
        <a:xfrm>
          <a:off x="0" y="3804"/>
          <a:ext cx="5458837" cy="119971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225972-DDE9-4564-8025-BD6673D19B4A}">
      <dsp:nvSpPr>
        <dsp:cNvPr id="0" name=""/>
        <dsp:cNvSpPr/>
      </dsp:nvSpPr>
      <dsp:spPr>
        <a:xfrm>
          <a:off x="362913" y="273740"/>
          <a:ext cx="660488" cy="65984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B8973F3-9ED4-431D-BE0A-D62EFC9F63D2}">
      <dsp:nvSpPr>
        <dsp:cNvPr id="0" name=""/>
        <dsp:cNvSpPr/>
      </dsp:nvSpPr>
      <dsp:spPr>
        <a:xfrm>
          <a:off x="1386315" y="3804"/>
          <a:ext cx="4018207" cy="1200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94" tIns="127094" rIns="127094" bIns="127094" numCol="1" spcCol="1270" anchor="ctr" anchorCtr="0">
          <a:noAutofit/>
        </a:bodyPr>
        <a:lstStyle/>
        <a:p>
          <a:pPr marL="0" lvl="0" indent="0" algn="l" defTabSz="622300">
            <a:lnSpc>
              <a:spcPct val="10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Financial Impact: Credit card fraud causes significant financial losses for banks and individuals through reimbursement costs, investigation expenses, and credit score damage.</a:t>
          </a:r>
        </a:p>
      </dsp:txBody>
      <dsp:txXfrm>
        <a:off x="1386315" y="3804"/>
        <a:ext cx="4018207" cy="1200887"/>
      </dsp:txXfrm>
    </dsp:sp>
    <dsp:sp modelId="{AABE82AD-548E-4DC5-A51D-46D5405CAD65}">
      <dsp:nvSpPr>
        <dsp:cNvPr id="0" name=""/>
        <dsp:cNvSpPr/>
      </dsp:nvSpPr>
      <dsp:spPr>
        <a:xfrm>
          <a:off x="0" y="1495816"/>
          <a:ext cx="5458837" cy="119971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CA1444-1A8D-4F41-9400-ACC7B08FFC33}">
      <dsp:nvSpPr>
        <dsp:cNvPr id="0" name=""/>
        <dsp:cNvSpPr/>
      </dsp:nvSpPr>
      <dsp:spPr>
        <a:xfrm>
          <a:off x="362913" y="1765752"/>
          <a:ext cx="660488" cy="65984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71B01CC-CEA5-468C-9316-F4422B03EDAD}">
      <dsp:nvSpPr>
        <dsp:cNvPr id="0" name=""/>
        <dsp:cNvSpPr/>
      </dsp:nvSpPr>
      <dsp:spPr>
        <a:xfrm>
          <a:off x="1386315" y="1495816"/>
          <a:ext cx="4018207" cy="1200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94" tIns="127094" rIns="127094" bIns="127094" numCol="1" spcCol="1270" anchor="ctr" anchorCtr="0">
          <a:noAutofit/>
        </a:bodyPr>
        <a:lstStyle/>
        <a:p>
          <a:pPr marL="0" lvl="0" indent="0" algn="l" defTabSz="622300">
            <a:lnSpc>
              <a:spcPct val="10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Trust and Reputation: Fraud undermines trust in financial institutions, leading to reputational damage and potential customer churn, impacting long-term loyalty and market share.</a:t>
          </a:r>
        </a:p>
      </dsp:txBody>
      <dsp:txXfrm>
        <a:off x="1386315" y="1495816"/>
        <a:ext cx="4018207" cy="1200887"/>
      </dsp:txXfrm>
    </dsp:sp>
    <dsp:sp modelId="{37EA96D3-B0E9-40C2-862A-4046CDC7DA8A}">
      <dsp:nvSpPr>
        <dsp:cNvPr id="0" name=""/>
        <dsp:cNvSpPr/>
      </dsp:nvSpPr>
      <dsp:spPr>
        <a:xfrm>
          <a:off x="0" y="2987827"/>
          <a:ext cx="5458837" cy="119971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46E876-08C5-4FA1-BB28-BC989C9AF94D}">
      <dsp:nvSpPr>
        <dsp:cNvPr id="0" name=""/>
        <dsp:cNvSpPr/>
      </dsp:nvSpPr>
      <dsp:spPr>
        <a:xfrm>
          <a:off x="363268" y="3257763"/>
          <a:ext cx="660488" cy="65984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76827E2-DE62-45FB-AFD4-DB8F93B8552F}">
      <dsp:nvSpPr>
        <dsp:cNvPr id="0" name=""/>
        <dsp:cNvSpPr/>
      </dsp:nvSpPr>
      <dsp:spPr>
        <a:xfrm>
          <a:off x="1387024" y="2987827"/>
          <a:ext cx="4018207" cy="1200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94" tIns="127094" rIns="127094" bIns="127094" numCol="1" spcCol="1270" anchor="ctr" anchorCtr="0">
          <a:noAutofit/>
        </a:bodyPr>
        <a:lstStyle/>
        <a:p>
          <a:pPr marL="0" lvl="0" indent="0" algn="l" defTabSz="622300">
            <a:lnSpc>
              <a:spcPct val="10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Economic Consequences: Credit card fraud lowers consumer confidence, reducing spending and economic activity. Costs of prevention measures divert resources, while higher prices affect purchasing power, hindering economic growth.</a:t>
          </a:r>
        </a:p>
      </dsp:txBody>
      <dsp:txXfrm>
        <a:off x="1387024" y="2987827"/>
        <a:ext cx="4018207" cy="120088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7/31/2025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6127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7/31/2025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4239002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7/31/2025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642243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764DE79-268F-4C1A-8933-263129D2AF90}" type="datetimeFigureOut">
              <a:rPr lang="en-US" dirty="0"/>
              <a:t>7/31/2025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9046078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764DE79-268F-4C1A-8933-263129D2AF90}" type="datetimeFigureOut">
              <a:rPr lang="en-US" dirty="0"/>
              <a:t>7/31/2025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701450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7/31/2025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17615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7/31/2025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6675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7/31/2025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304768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7/31/2025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704020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7/31/2025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0858611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7/31/2025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2619765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7/31/2025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30148047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5.gif"/><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6.jpe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 Id="rId6" Type="http://schemas.openxmlformats.org/officeDocument/2006/relationships/image" Target="../media/image20.emf"/><Relationship Id="rId5" Type="http://schemas.openxmlformats.org/officeDocument/2006/relationships/oleObject" Target="../embeddings/oleObject1.bin"/><Relationship Id="rId4" Type="http://schemas.openxmlformats.org/officeDocument/2006/relationships/hyperlink" Target="../../Downloads/capestone%20final%20project.html"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hyperlink" Target="https://public.tableau.com/shared/44HN2XS9K?:display_count=n&amp;:origin=viz_share_link"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3.png"/><Relationship Id="rId1" Type="http://schemas.openxmlformats.org/officeDocument/2006/relationships/slideLayout" Target="../slideLayouts/slideLayout7.xml"/><Relationship Id="rId5" Type="http://schemas.microsoft.com/office/2007/relationships/hdphoto" Target="../media/hdphoto2.wdp"/><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B92FAF7-0AD3-4B47-9111-D0E9CD79E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D6A77139-BADB-4B2C-BD41-B67A4D37D75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55526" y="2227167"/>
            <a:ext cx="4336168" cy="4630834"/>
            <a:chOff x="7855526" y="2145638"/>
            <a:chExt cx="4336168" cy="4630834"/>
          </a:xfr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p:grpSpPr>
        <p:sp useBgFill="1">
          <p:nvSpPr>
            <p:cNvPr id="14" name="Freeform: Shape 13">
              <a:extLst>
                <a:ext uri="{FF2B5EF4-FFF2-40B4-BE49-F238E27FC236}">
                  <a16:creationId xmlns:a16="http://schemas.microsoft.com/office/drawing/2014/main" id="{DAC7B25D-E1A6-459A-B45A-1912B0CD95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75903" y="2463723"/>
              <a:ext cx="4315791" cy="4312749"/>
            </a:xfrm>
            <a:custGeom>
              <a:avLst/>
              <a:gdLst>
                <a:gd name="connsiteX0" fmla="*/ 2987009 w 4315791"/>
                <a:gd name="connsiteY0" fmla="*/ 0 h 4312749"/>
                <a:gd name="connsiteX1" fmla="*/ 4136908 w 4315791"/>
                <a:gd name="connsiteY1" fmla="*/ 333995 h 4312749"/>
                <a:gd name="connsiteX2" fmla="*/ 4315791 w 4315791"/>
                <a:gd name="connsiteY2" fmla="*/ 445229 h 4312749"/>
                <a:gd name="connsiteX3" fmla="*/ 4315791 w 4315791"/>
                <a:gd name="connsiteY3" fmla="*/ 1208150 h 4312749"/>
                <a:gd name="connsiteX4" fmla="*/ 4145996 w 4315791"/>
                <a:gd name="connsiteY4" fmla="*/ 1085198 h 4312749"/>
                <a:gd name="connsiteX5" fmla="*/ 3631470 w 4315791"/>
                <a:gd name="connsiteY5" fmla="*/ 767158 h 4312749"/>
                <a:gd name="connsiteX6" fmla="*/ 2987009 w 4315791"/>
                <a:gd name="connsiteY6" fmla="*/ 611504 h 4312749"/>
                <a:gd name="connsiteX7" fmla="*/ 1985110 w 4315791"/>
                <a:gd name="connsiteY7" fmla="*/ 855943 h 4312749"/>
                <a:gd name="connsiteX8" fmla="*/ 1223061 w 4315791"/>
                <a:gd name="connsiteY8" fmla="*/ 1585590 h 4312749"/>
                <a:gd name="connsiteX9" fmla="*/ 1023311 w 4315791"/>
                <a:gd name="connsiteY9" fmla="*/ 1849089 h 4312749"/>
                <a:gd name="connsiteX10" fmla="*/ 652067 w 4315791"/>
                <a:gd name="connsiteY10" fmla="*/ 2610233 h 4312749"/>
                <a:gd name="connsiteX11" fmla="*/ 876921 w 4315791"/>
                <a:gd name="connsiteY11" fmla="*/ 3447930 h 4312749"/>
                <a:gd name="connsiteX12" fmla="*/ 1504428 w 4315791"/>
                <a:gd name="connsiteY12" fmla="*/ 4177169 h 4312749"/>
                <a:gd name="connsiteX13" fmla="*/ 1689053 w 4315791"/>
                <a:gd name="connsiteY13" fmla="*/ 4312749 h 4312749"/>
                <a:gd name="connsiteX14" fmla="*/ 729636 w 4315791"/>
                <a:gd name="connsiteY14" fmla="*/ 4312749 h 4312749"/>
                <a:gd name="connsiteX15" fmla="*/ 638463 w 4315791"/>
                <a:gd name="connsiteY15" fmla="*/ 4216521 h 4312749"/>
                <a:gd name="connsiteX16" fmla="*/ 0 w 4315791"/>
                <a:gd name="connsiteY16" fmla="*/ 2610335 h 4312749"/>
                <a:gd name="connsiteX17" fmla="*/ 683474 w 4315791"/>
                <a:gd name="connsiteY17" fmla="*/ 1242376 h 4312749"/>
                <a:gd name="connsiteX18" fmla="*/ 2987009 w 4315791"/>
                <a:gd name="connsiteY18" fmla="*/ 0 h 4312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15791" h="4312749">
                  <a:moveTo>
                    <a:pt x="2987009" y="0"/>
                  </a:moveTo>
                  <a:cubicBezTo>
                    <a:pt x="3434423" y="0"/>
                    <a:pt x="3798884" y="137413"/>
                    <a:pt x="4136908" y="333995"/>
                  </a:cubicBezTo>
                  <a:lnTo>
                    <a:pt x="4315791" y="445229"/>
                  </a:lnTo>
                  <a:lnTo>
                    <a:pt x="4315791" y="1208150"/>
                  </a:lnTo>
                  <a:lnTo>
                    <a:pt x="4145996" y="1085198"/>
                  </a:lnTo>
                  <a:cubicBezTo>
                    <a:pt x="3968282" y="958859"/>
                    <a:pt x="3800518" y="848961"/>
                    <a:pt x="3631470" y="767158"/>
                  </a:cubicBezTo>
                  <a:cubicBezTo>
                    <a:pt x="3411941" y="660943"/>
                    <a:pt x="3207191" y="611504"/>
                    <a:pt x="2987009" y="611504"/>
                  </a:cubicBezTo>
                  <a:cubicBezTo>
                    <a:pt x="2599030" y="611504"/>
                    <a:pt x="2271258" y="691421"/>
                    <a:pt x="1985110" y="855943"/>
                  </a:cubicBezTo>
                  <a:cubicBezTo>
                    <a:pt x="1715153" y="1011087"/>
                    <a:pt x="1465955" y="1249819"/>
                    <a:pt x="1223061" y="1585590"/>
                  </a:cubicBezTo>
                  <a:cubicBezTo>
                    <a:pt x="1154375" y="1680490"/>
                    <a:pt x="1087756" y="1766217"/>
                    <a:pt x="1023311" y="1849089"/>
                  </a:cubicBezTo>
                  <a:cubicBezTo>
                    <a:pt x="765853" y="2180172"/>
                    <a:pt x="652067" y="2338069"/>
                    <a:pt x="652067" y="2610233"/>
                  </a:cubicBezTo>
                  <a:cubicBezTo>
                    <a:pt x="652067" y="2895038"/>
                    <a:pt x="727707" y="3176887"/>
                    <a:pt x="876921" y="3447930"/>
                  </a:cubicBezTo>
                  <a:cubicBezTo>
                    <a:pt x="1022224" y="3711838"/>
                    <a:pt x="1239145" y="3964023"/>
                    <a:pt x="1504428" y="4177169"/>
                  </a:cubicBezTo>
                  <a:lnTo>
                    <a:pt x="1689053" y="4312749"/>
                  </a:lnTo>
                  <a:lnTo>
                    <a:pt x="729636" y="4312749"/>
                  </a:lnTo>
                  <a:lnTo>
                    <a:pt x="638463" y="4216521"/>
                  </a:lnTo>
                  <a:cubicBezTo>
                    <a:pt x="243716" y="3758034"/>
                    <a:pt x="0" y="3205314"/>
                    <a:pt x="0" y="2610335"/>
                  </a:cubicBezTo>
                  <a:cubicBezTo>
                    <a:pt x="0" y="2015344"/>
                    <a:pt x="351790" y="1700877"/>
                    <a:pt x="683474" y="1242376"/>
                  </a:cubicBezTo>
                  <a:cubicBezTo>
                    <a:pt x="1236211" y="478174"/>
                    <a:pt x="1925445" y="0"/>
                    <a:pt x="2987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Freeform: Shape 14">
              <a:extLst>
                <a:ext uri="{FF2B5EF4-FFF2-40B4-BE49-F238E27FC236}">
                  <a16:creationId xmlns:a16="http://schemas.microsoft.com/office/drawing/2014/main" id="{920A7C7E-00F6-490C-A8E7-5167EA6A4B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75903" y="2463723"/>
              <a:ext cx="4315791" cy="4312749"/>
            </a:xfrm>
            <a:custGeom>
              <a:avLst/>
              <a:gdLst>
                <a:gd name="connsiteX0" fmla="*/ 2987009 w 4315791"/>
                <a:gd name="connsiteY0" fmla="*/ 0 h 4312749"/>
                <a:gd name="connsiteX1" fmla="*/ 4136908 w 4315791"/>
                <a:gd name="connsiteY1" fmla="*/ 333995 h 4312749"/>
                <a:gd name="connsiteX2" fmla="*/ 4315791 w 4315791"/>
                <a:gd name="connsiteY2" fmla="*/ 445229 h 4312749"/>
                <a:gd name="connsiteX3" fmla="*/ 4315791 w 4315791"/>
                <a:gd name="connsiteY3" fmla="*/ 1079495 h 4312749"/>
                <a:gd name="connsiteX4" fmla="*/ 4206793 w 4315791"/>
                <a:gd name="connsiteY4" fmla="*/ 1000737 h 4312749"/>
                <a:gd name="connsiteX5" fmla="*/ 2987119 w 4315791"/>
                <a:gd name="connsiteY5" fmla="*/ 509571 h 4312749"/>
                <a:gd name="connsiteX6" fmla="*/ 1133184 w 4315791"/>
                <a:gd name="connsiteY6" fmla="*/ 1528405 h 4312749"/>
                <a:gd name="connsiteX7" fmla="*/ 935607 w 4315791"/>
                <a:gd name="connsiteY7" fmla="*/ 1789050 h 4312749"/>
                <a:gd name="connsiteX8" fmla="*/ 543498 w 4315791"/>
                <a:gd name="connsiteY8" fmla="*/ 2610233 h 4312749"/>
                <a:gd name="connsiteX9" fmla="*/ 780416 w 4315791"/>
                <a:gd name="connsiteY9" fmla="*/ 3494616 h 4312749"/>
                <a:gd name="connsiteX10" fmla="*/ 1433786 w 4315791"/>
                <a:gd name="connsiteY10" fmla="*/ 4254537 h 4312749"/>
                <a:gd name="connsiteX11" fmla="*/ 1513041 w 4315791"/>
                <a:gd name="connsiteY11" fmla="*/ 4312749 h 4312749"/>
                <a:gd name="connsiteX12" fmla="*/ 729636 w 4315791"/>
                <a:gd name="connsiteY12" fmla="*/ 4312749 h 4312749"/>
                <a:gd name="connsiteX13" fmla="*/ 638463 w 4315791"/>
                <a:gd name="connsiteY13" fmla="*/ 4216521 h 4312749"/>
                <a:gd name="connsiteX14" fmla="*/ 0 w 4315791"/>
                <a:gd name="connsiteY14" fmla="*/ 2610335 h 4312749"/>
                <a:gd name="connsiteX15" fmla="*/ 683474 w 4315791"/>
                <a:gd name="connsiteY15" fmla="*/ 1242376 h 4312749"/>
                <a:gd name="connsiteX16" fmla="*/ 2987009 w 4315791"/>
                <a:gd name="connsiteY16" fmla="*/ 0 h 4312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15791" h="4312749">
                  <a:moveTo>
                    <a:pt x="2987009" y="0"/>
                  </a:moveTo>
                  <a:cubicBezTo>
                    <a:pt x="3434423" y="0"/>
                    <a:pt x="3798884" y="137413"/>
                    <a:pt x="4136908" y="333995"/>
                  </a:cubicBezTo>
                  <a:lnTo>
                    <a:pt x="4315791" y="445229"/>
                  </a:lnTo>
                  <a:lnTo>
                    <a:pt x="4315791" y="1079495"/>
                  </a:lnTo>
                  <a:lnTo>
                    <a:pt x="4206793" y="1000737"/>
                  </a:lnTo>
                  <a:cubicBezTo>
                    <a:pt x="3781561" y="699607"/>
                    <a:pt x="3436718" y="509571"/>
                    <a:pt x="2987119" y="509571"/>
                  </a:cubicBezTo>
                  <a:cubicBezTo>
                    <a:pt x="2204204" y="509571"/>
                    <a:pt x="1649730" y="814251"/>
                    <a:pt x="1133184" y="1528405"/>
                  </a:cubicBezTo>
                  <a:cubicBezTo>
                    <a:pt x="1065585" y="1621878"/>
                    <a:pt x="999510" y="1706892"/>
                    <a:pt x="935607" y="1789050"/>
                  </a:cubicBezTo>
                  <a:cubicBezTo>
                    <a:pt x="670760" y="2129716"/>
                    <a:pt x="543498" y="2306877"/>
                    <a:pt x="543498" y="2610233"/>
                  </a:cubicBezTo>
                  <a:cubicBezTo>
                    <a:pt x="543498" y="2911449"/>
                    <a:pt x="623267" y="3208997"/>
                    <a:pt x="780416" y="3494616"/>
                  </a:cubicBezTo>
                  <a:cubicBezTo>
                    <a:pt x="934194" y="3774018"/>
                    <a:pt x="1154050" y="4029772"/>
                    <a:pt x="1433786" y="4254537"/>
                  </a:cubicBezTo>
                  <a:lnTo>
                    <a:pt x="1513041" y="4312749"/>
                  </a:lnTo>
                  <a:lnTo>
                    <a:pt x="729636" y="4312749"/>
                  </a:lnTo>
                  <a:lnTo>
                    <a:pt x="638463" y="4216521"/>
                  </a:lnTo>
                  <a:cubicBezTo>
                    <a:pt x="243716" y="3758034"/>
                    <a:pt x="0" y="3205314"/>
                    <a:pt x="0" y="2610335"/>
                  </a:cubicBezTo>
                  <a:cubicBezTo>
                    <a:pt x="0" y="2015344"/>
                    <a:pt x="351790" y="1700877"/>
                    <a:pt x="683474" y="1242376"/>
                  </a:cubicBezTo>
                  <a:cubicBezTo>
                    <a:pt x="1236211" y="478174"/>
                    <a:pt x="1925445" y="0"/>
                    <a:pt x="2987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6" name="Freeform: Shape 15">
              <a:extLst>
                <a:ext uri="{FF2B5EF4-FFF2-40B4-BE49-F238E27FC236}">
                  <a16:creationId xmlns:a16="http://schemas.microsoft.com/office/drawing/2014/main" id="{2E166FC5-8F23-41C3-879A-BFF8D5B705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77037" y="2411531"/>
              <a:ext cx="4314657" cy="4364939"/>
            </a:xfrm>
            <a:custGeom>
              <a:avLst/>
              <a:gdLst>
                <a:gd name="connsiteX0" fmla="*/ 3028307 w 4314657"/>
                <a:gd name="connsiteY0" fmla="*/ 21 h 4364939"/>
                <a:gd name="connsiteX1" fmla="*/ 3066670 w 4314657"/>
                <a:gd name="connsiteY1" fmla="*/ 836 h 4364939"/>
                <a:gd name="connsiteX2" fmla="*/ 3220125 w 4314657"/>
                <a:gd name="connsiteY2" fmla="*/ 9909 h 4364939"/>
                <a:gd name="connsiteX3" fmla="*/ 3816113 w 4314657"/>
                <a:gd name="connsiteY3" fmla="*/ 150272 h 4364939"/>
                <a:gd name="connsiteX4" fmla="*/ 4089981 w 4314657"/>
                <a:gd name="connsiteY4" fmla="*/ 272287 h 4364939"/>
                <a:gd name="connsiteX5" fmla="*/ 4314657 w 4314657"/>
                <a:gd name="connsiteY5" fmla="*/ 398926 h 4364939"/>
                <a:gd name="connsiteX6" fmla="*/ 4314657 w 4314657"/>
                <a:gd name="connsiteY6" fmla="*/ 911199 h 4364939"/>
                <a:gd name="connsiteX7" fmla="*/ 4310597 w 4314657"/>
                <a:gd name="connsiteY7" fmla="*/ 908154 h 4364939"/>
                <a:gd name="connsiteX8" fmla="*/ 4203223 w 4314657"/>
                <a:gd name="connsiteY8" fmla="*/ 829562 h 4364939"/>
                <a:gd name="connsiteX9" fmla="*/ 4095850 w 4314657"/>
                <a:gd name="connsiteY9" fmla="*/ 753520 h 4364939"/>
                <a:gd name="connsiteX10" fmla="*/ 3652987 w 4314657"/>
                <a:gd name="connsiteY10" fmla="*/ 494811 h 4364939"/>
                <a:gd name="connsiteX11" fmla="*/ 3173610 w 4314657"/>
                <a:gd name="connsiteY11" fmla="*/ 347209 h 4364939"/>
                <a:gd name="connsiteX12" fmla="*/ 3047760 w 4314657"/>
                <a:gd name="connsiteY12" fmla="*/ 332632 h 4364939"/>
                <a:gd name="connsiteX13" fmla="*/ 3016027 w 4314657"/>
                <a:gd name="connsiteY13" fmla="*/ 330186 h 4364939"/>
                <a:gd name="connsiteX14" fmla="*/ 2984184 w 4314657"/>
                <a:gd name="connsiteY14" fmla="*/ 328658 h 4364939"/>
                <a:gd name="connsiteX15" fmla="*/ 2952233 w 4314657"/>
                <a:gd name="connsiteY15" fmla="*/ 327332 h 4364939"/>
                <a:gd name="connsiteX16" fmla="*/ 2919085 w 4314657"/>
                <a:gd name="connsiteY16" fmla="*/ 327026 h 4364939"/>
                <a:gd name="connsiteX17" fmla="*/ 2852901 w 4314657"/>
                <a:gd name="connsiteY17" fmla="*/ 326720 h 4364939"/>
                <a:gd name="connsiteX18" fmla="*/ 2786826 w 4314657"/>
                <a:gd name="connsiteY18" fmla="*/ 328148 h 4364939"/>
                <a:gd name="connsiteX19" fmla="*/ 2720965 w 4314657"/>
                <a:gd name="connsiteY19" fmla="*/ 331409 h 4364939"/>
                <a:gd name="connsiteX20" fmla="*/ 2655325 w 4314657"/>
                <a:gd name="connsiteY20" fmla="*/ 336098 h 4364939"/>
                <a:gd name="connsiteX21" fmla="*/ 2524803 w 4314657"/>
                <a:gd name="connsiteY21" fmla="*/ 350573 h 4364939"/>
                <a:gd name="connsiteX22" fmla="*/ 2460139 w 4314657"/>
                <a:gd name="connsiteY22" fmla="*/ 360664 h 4364939"/>
                <a:gd name="connsiteX23" fmla="*/ 2396019 w 4314657"/>
                <a:gd name="connsiteY23" fmla="*/ 372693 h 4364939"/>
                <a:gd name="connsiteX24" fmla="*/ 2145843 w 4314657"/>
                <a:gd name="connsiteY24" fmla="*/ 440989 h 4364939"/>
                <a:gd name="connsiteX25" fmla="*/ 1698635 w 4314657"/>
                <a:gd name="connsiteY25" fmla="*/ 682676 h 4364939"/>
                <a:gd name="connsiteX26" fmla="*/ 1498450 w 4314657"/>
                <a:gd name="connsiteY26" fmla="*/ 835474 h 4364939"/>
                <a:gd name="connsiteX27" fmla="*/ 1307285 w 4314657"/>
                <a:gd name="connsiteY27" fmla="*/ 1001220 h 4364939"/>
                <a:gd name="connsiteX28" fmla="*/ 947780 w 4314657"/>
                <a:gd name="connsiteY28" fmla="*/ 1369612 h 4364939"/>
                <a:gd name="connsiteX29" fmla="*/ 905939 w 4314657"/>
                <a:gd name="connsiteY29" fmla="*/ 1419458 h 4364939"/>
                <a:gd name="connsiteX30" fmla="*/ 863228 w 4314657"/>
                <a:gd name="connsiteY30" fmla="*/ 1471545 h 4364939"/>
                <a:gd name="connsiteX31" fmla="*/ 774330 w 4314657"/>
                <a:gd name="connsiteY31" fmla="*/ 1577659 h 4364939"/>
                <a:gd name="connsiteX32" fmla="*/ 595554 w 4314657"/>
                <a:gd name="connsiteY32" fmla="*/ 1780916 h 4364939"/>
                <a:gd name="connsiteX33" fmla="*/ 430365 w 4314657"/>
                <a:gd name="connsiteY33" fmla="*/ 1982644 h 4364939"/>
                <a:gd name="connsiteX34" fmla="*/ 358855 w 4314657"/>
                <a:gd name="connsiteY34" fmla="*/ 2087025 h 4364939"/>
                <a:gd name="connsiteX35" fmla="*/ 296583 w 4314657"/>
                <a:gd name="connsiteY35" fmla="*/ 2194872 h 4364939"/>
                <a:gd name="connsiteX36" fmla="*/ 207358 w 4314657"/>
                <a:gd name="connsiteY36" fmla="*/ 2423918 h 4364939"/>
                <a:gd name="connsiteX37" fmla="*/ 177146 w 4314657"/>
                <a:gd name="connsiteY37" fmla="*/ 2668765 h 4364939"/>
                <a:gd name="connsiteX38" fmla="*/ 248763 w 4314657"/>
                <a:gd name="connsiteY38" fmla="*/ 3168854 h 4364939"/>
                <a:gd name="connsiteX39" fmla="*/ 445688 w 4314657"/>
                <a:gd name="connsiteY39" fmla="*/ 3637956 h 4364939"/>
                <a:gd name="connsiteX40" fmla="*/ 735859 w 4314657"/>
                <a:gd name="connsiteY40" fmla="*/ 4062310 h 4364939"/>
                <a:gd name="connsiteX41" fmla="*/ 910884 w 4314657"/>
                <a:gd name="connsiteY41" fmla="*/ 4254366 h 4364939"/>
                <a:gd name="connsiteX42" fmla="*/ 1030507 w 4314657"/>
                <a:gd name="connsiteY42" fmla="*/ 4364939 h 4364939"/>
                <a:gd name="connsiteX43" fmla="*/ 676755 w 4314657"/>
                <a:gd name="connsiteY43" fmla="*/ 4364939 h 4364939"/>
                <a:gd name="connsiteX44" fmla="*/ 538105 w 4314657"/>
                <a:gd name="connsiteY44" fmla="*/ 4202315 h 4364939"/>
                <a:gd name="connsiteX45" fmla="*/ 241592 w 4314657"/>
                <a:gd name="connsiteY45" fmla="*/ 3731226 h 4364939"/>
                <a:gd name="connsiteX46" fmla="*/ 60317 w 4314657"/>
                <a:gd name="connsiteY46" fmla="*/ 3211362 h 4364939"/>
                <a:gd name="connsiteX47" fmla="*/ 0 w 4314657"/>
                <a:gd name="connsiteY47" fmla="*/ 2668765 h 4364939"/>
                <a:gd name="connsiteX48" fmla="*/ 21736 w 4314657"/>
                <a:gd name="connsiteY48" fmla="*/ 2390280 h 4364939"/>
                <a:gd name="connsiteX49" fmla="*/ 27605 w 4314657"/>
                <a:gd name="connsiteY49" fmla="*/ 2355521 h 4364939"/>
                <a:gd name="connsiteX50" fmla="*/ 34669 w 4314657"/>
                <a:gd name="connsiteY50" fmla="*/ 2320862 h 4364939"/>
                <a:gd name="connsiteX51" fmla="*/ 50753 w 4314657"/>
                <a:gd name="connsiteY51" fmla="*/ 2251750 h 4364939"/>
                <a:gd name="connsiteX52" fmla="*/ 93899 w 4314657"/>
                <a:gd name="connsiteY52" fmla="*/ 2116179 h 4364939"/>
                <a:gd name="connsiteX53" fmla="*/ 150194 w 4314657"/>
                <a:gd name="connsiteY53" fmla="*/ 1985498 h 4364939"/>
                <a:gd name="connsiteX54" fmla="*/ 216486 w 4314657"/>
                <a:gd name="connsiteY54" fmla="*/ 1860628 h 4364939"/>
                <a:gd name="connsiteX55" fmla="*/ 363527 w 4314657"/>
                <a:gd name="connsiteY55" fmla="*/ 1625058 h 4364939"/>
                <a:gd name="connsiteX56" fmla="*/ 514155 w 4314657"/>
                <a:gd name="connsiteY56" fmla="*/ 1402231 h 4364939"/>
                <a:gd name="connsiteX57" fmla="*/ 586861 w 4314657"/>
                <a:gd name="connsiteY57" fmla="*/ 1293160 h 4364939"/>
                <a:gd name="connsiteX58" fmla="*/ 623702 w 4314657"/>
                <a:gd name="connsiteY58" fmla="*/ 1236892 h 4364939"/>
                <a:gd name="connsiteX59" fmla="*/ 662283 w 4314657"/>
                <a:gd name="connsiteY59" fmla="*/ 1178892 h 4364939"/>
                <a:gd name="connsiteX60" fmla="*/ 827364 w 4314657"/>
                <a:gd name="connsiteY60" fmla="*/ 951170 h 4364939"/>
                <a:gd name="connsiteX61" fmla="*/ 1016355 w 4314657"/>
                <a:gd name="connsiteY61" fmla="*/ 736089 h 4364939"/>
                <a:gd name="connsiteX62" fmla="*/ 1482474 w 4314657"/>
                <a:gd name="connsiteY62" fmla="*/ 378707 h 4364939"/>
                <a:gd name="connsiteX63" fmla="*/ 2035644 w 4314657"/>
                <a:gd name="connsiteY63" fmla="*/ 149151 h 4364939"/>
                <a:gd name="connsiteX64" fmla="*/ 2324619 w 4314657"/>
                <a:gd name="connsiteY64" fmla="*/ 72802 h 4364939"/>
                <a:gd name="connsiteX65" fmla="*/ 2618809 w 4314657"/>
                <a:gd name="connsiteY65" fmla="*/ 24078 h 4364939"/>
                <a:gd name="connsiteX66" fmla="*/ 2914849 w 4314657"/>
                <a:gd name="connsiteY66" fmla="*/ 1957 h 4364939"/>
                <a:gd name="connsiteX67" fmla="*/ 2951907 w 4314657"/>
                <a:gd name="connsiteY67" fmla="*/ 633 h 4364939"/>
                <a:gd name="connsiteX68" fmla="*/ 2990052 w 4314657"/>
                <a:gd name="connsiteY68" fmla="*/ 224 h 4364939"/>
                <a:gd name="connsiteX69" fmla="*/ 3028307 w 4314657"/>
                <a:gd name="connsiteY69" fmla="*/ 21 h 4364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314657" h="4364939">
                  <a:moveTo>
                    <a:pt x="3028307" y="21"/>
                  </a:moveTo>
                  <a:lnTo>
                    <a:pt x="3066670" y="836"/>
                  </a:lnTo>
                  <a:cubicBezTo>
                    <a:pt x="3117749" y="1856"/>
                    <a:pt x="3168937" y="5320"/>
                    <a:pt x="3220125" y="9909"/>
                  </a:cubicBezTo>
                  <a:cubicBezTo>
                    <a:pt x="3424763" y="29073"/>
                    <a:pt x="3627448" y="77898"/>
                    <a:pt x="3816113" y="150272"/>
                  </a:cubicBezTo>
                  <a:cubicBezTo>
                    <a:pt x="3910880" y="185950"/>
                    <a:pt x="4001951" y="227538"/>
                    <a:pt x="4089981" y="272287"/>
                  </a:cubicBezTo>
                  <a:lnTo>
                    <a:pt x="4314657" y="398926"/>
                  </a:lnTo>
                  <a:lnTo>
                    <a:pt x="4314657" y="911199"/>
                  </a:lnTo>
                  <a:lnTo>
                    <a:pt x="4310597" y="908154"/>
                  </a:lnTo>
                  <a:cubicBezTo>
                    <a:pt x="4274842" y="881549"/>
                    <a:pt x="4239087" y="855352"/>
                    <a:pt x="4203223" y="829562"/>
                  </a:cubicBezTo>
                  <a:cubicBezTo>
                    <a:pt x="4167576" y="803773"/>
                    <a:pt x="4131821" y="778086"/>
                    <a:pt x="4095850" y="753520"/>
                  </a:cubicBezTo>
                  <a:cubicBezTo>
                    <a:pt x="3951852" y="654949"/>
                    <a:pt x="3806115" y="565043"/>
                    <a:pt x="3652987" y="494811"/>
                  </a:cubicBezTo>
                  <a:cubicBezTo>
                    <a:pt x="3500404" y="423761"/>
                    <a:pt x="3340213" y="373101"/>
                    <a:pt x="3173610" y="347209"/>
                  </a:cubicBezTo>
                  <a:cubicBezTo>
                    <a:pt x="3131987" y="341093"/>
                    <a:pt x="3090036" y="335792"/>
                    <a:pt x="3047760" y="332632"/>
                  </a:cubicBezTo>
                  <a:lnTo>
                    <a:pt x="3016027" y="330186"/>
                  </a:lnTo>
                  <a:cubicBezTo>
                    <a:pt x="3005485" y="329472"/>
                    <a:pt x="2994834" y="329168"/>
                    <a:pt x="2984184" y="328658"/>
                  </a:cubicBezTo>
                  <a:cubicBezTo>
                    <a:pt x="2973533" y="328249"/>
                    <a:pt x="2962992" y="327638"/>
                    <a:pt x="2952233" y="327332"/>
                  </a:cubicBezTo>
                  <a:lnTo>
                    <a:pt x="2919085" y="327026"/>
                  </a:lnTo>
                  <a:cubicBezTo>
                    <a:pt x="2897025" y="326925"/>
                    <a:pt x="2874854" y="326212"/>
                    <a:pt x="2852901" y="326720"/>
                  </a:cubicBezTo>
                  <a:lnTo>
                    <a:pt x="2786826" y="328148"/>
                  </a:lnTo>
                  <a:cubicBezTo>
                    <a:pt x="2764763" y="328759"/>
                    <a:pt x="2742919" y="330391"/>
                    <a:pt x="2720965" y="331409"/>
                  </a:cubicBezTo>
                  <a:cubicBezTo>
                    <a:pt x="2699013" y="332326"/>
                    <a:pt x="2677170" y="334162"/>
                    <a:pt x="2655325" y="336098"/>
                  </a:cubicBezTo>
                  <a:cubicBezTo>
                    <a:pt x="2611528" y="339463"/>
                    <a:pt x="2568165" y="345170"/>
                    <a:pt x="2524803" y="350573"/>
                  </a:cubicBezTo>
                  <a:lnTo>
                    <a:pt x="2460139" y="360664"/>
                  </a:lnTo>
                  <a:cubicBezTo>
                    <a:pt x="2438622" y="364130"/>
                    <a:pt x="2417430" y="368717"/>
                    <a:pt x="2396019" y="372693"/>
                  </a:cubicBezTo>
                  <a:cubicBezTo>
                    <a:pt x="2310709" y="389513"/>
                    <a:pt x="2226809" y="411836"/>
                    <a:pt x="2145843" y="440989"/>
                  </a:cubicBezTo>
                  <a:cubicBezTo>
                    <a:pt x="1983479" y="499295"/>
                    <a:pt x="1835678" y="585838"/>
                    <a:pt x="1698635" y="682676"/>
                  </a:cubicBezTo>
                  <a:cubicBezTo>
                    <a:pt x="1629841" y="730992"/>
                    <a:pt x="1563549" y="782367"/>
                    <a:pt x="1498450" y="835474"/>
                  </a:cubicBezTo>
                  <a:cubicBezTo>
                    <a:pt x="1433352" y="888583"/>
                    <a:pt x="1369775" y="943932"/>
                    <a:pt x="1307285" y="1001220"/>
                  </a:cubicBezTo>
                  <a:cubicBezTo>
                    <a:pt x="1182958" y="1116304"/>
                    <a:pt x="1060588" y="1237708"/>
                    <a:pt x="947780" y="1369612"/>
                  </a:cubicBezTo>
                  <a:cubicBezTo>
                    <a:pt x="933325" y="1385818"/>
                    <a:pt x="919958" y="1402841"/>
                    <a:pt x="905939" y="1419458"/>
                  </a:cubicBezTo>
                  <a:lnTo>
                    <a:pt x="863228" y="1471545"/>
                  </a:lnTo>
                  <a:cubicBezTo>
                    <a:pt x="833776" y="1507529"/>
                    <a:pt x="804215" y="1543001"/>
                    <a:pt x="774330" y="1577659"/>
                  </a:cubicBezTo>
                  <a:cubicBezTo>
                    <a:pt x="714665" y="1647178"/>
                    <a:pt x="653806" y="1714046"/>
                    <a:pt x="595554" y="1780916"/>
                  </a:cubicBezTo>
                  <a:cubicBezTo>
                    <a:pt x="537303" y="1847683"/>
                    <a:pt x="481009" y="1914144"/>
                    <a:pt x="430365" y="1982644"/>
                  </a:cubicBezTo>
                  <a:cubicBezTo>
                    <a:pt x="405369" y="2016995"/>
                    <a:pt x="381351" y="2051756"/>
                    <a:pt x="358855" y="2087025"/>
                  </a:cubicBezTo>
                  <a:cubicBezTo>
                    <a:pt x="336685" y="2122396"/>
                    <a:pt x="315601" y="2158277"/>
                    <a:pt x="296583" y="2194872"/>
                  </a:cubicBezTo>
                  <a:cubicBezTo>
                    <a:pt x="258980" y="2268161"/>
                    <a:pt x="227572" y="2344307"/>
                    <a:pt x="207358" y="2423918"/>
                  </a:cubicBezTo>
                  <a:cubicBezTo>
                    <a:pt x="186817" y="2503426"/>
                    <a:pt x="178124" y="2585790"/>
                    <a:pt x="177146" y="2668765"/>
                  </a:cubicBezTo>
                  <a:cubicBezTo>
                    <a:pt x="177037" y="2837670"/>
                    <a:pt x="201490" y="3006472"/>
                    <a:pt x="248763" y="3168854"/>
                  </a:cubicBezTo>
                  <a:cubicBezTo>
                    <a:pt x="295931" y="3331644"/>
                    <a:pt x="363962" y="3488316"/>
                    <a:pt x="445688" y="3637956"/>
                  </a:cubicBezTo>
                  <a:cubicBezTo>
                    <a:pt x="527413" y="3787697"/>
                    <a:pt x="625115" y="3929794"/>
                    <a:pt x="735859" y="4062310"/>
                  </a:cubicBezTo>
                  <a:cubicBezTo>
                    <a:pt x="791121" y="4128668"/>
                    <a:pt x="849589" y="4192733"/>
                    <a:pt x="910884" y="4254366"/>
                  </a:cubicBezTo>
                  <a:lnTo>
                    <a:pt x="1030507" y="4364939"/>
                  </a:lnTo>
                  <a:lnTo>
                    <a:pt x="676755" y="4364939"/>
                  </a:lnTo>
                  <a:lnTo>
                    <a:pt x="538105" y="4202315"/>
                  </a:lnTo>
                  <a:cubicBezTo>
                    <a:pt x="423518" y="4054791"/>
                    <a:pt x="323372" y="3897379"/>
                    <a:pt x="241592" y="3731226"/>
                  </a:cubicBezTo>
                  <a:cubicBezTo>
                    <a:pt x="160193" y="3565073"/>
                    <a:pt x="99768" y="3389950"/>
                    <a:pt x="60317" y="3211362"/>
                  </a:cubicBezTo>
                  <a:cubicBezTo>
                    <a:pt x="20759" y="3032669"/>
                    <a:pt x="435" y="2850716"/>
                    <a:pt x="0" y="2668765"/>
                  </a:cubicBezTo>
                  <a:cubicBezTo>
                    <a:pt x="0" y="2576309"/>
                    <a:pt x="6413" y="2483039"/>
                    <a:pt x="21736" y="2390280"/>
                  </a:cubicBezTo>
                  <a:lnTo>
                    <a:pt x="27605" y="2355521"/>
                  </a:lnTo>
                  <a:lnTo>
                    <a:pt x="34669" y="2320862"/>
                  </a:lnTo>
                  <a:cubicBezTo>
                    <a:pt x="39343" y="2297723"/>
                    <a:pt x="45102" y="2274686"/>
                    <a:pt x="50753" y="2251750"/>
                  </a:cubicBezTo>
                  <a:cubicBezTo>
                    <a:pt x="62708" y="2205881"/>
                    <a:pt x="77379" y="2160723"/>
                    <a:pt x="93899" y="2116179"/>
                  </a:cubicBezTo>
                  <a:cubicBezTo>
                    <a:pt x="110744" y="2071734"/>
                    <a:pt x="129762" y="2028209"/>
                    <a:pt x="150194" y="1985498"/>
                  </a:cubicBezTo>
                  <a:cubicBezTo>
                    <a:pt x="170734" y="1942890"/>
                    <a:pt x="193229" y="1901402"/>
                    <a:pt x="216486" y="1860628"/>
                  </a:cubicBezTo>
                  <a:cubicBezTo>
                    <a:pt x="263109" y="1779183"/>
                    <a:pt x="312993" y="1701000"/>
                    <a:pt x="363527" y="1625058"/>
                  </a:cubicBezTo>
                  <a:lnTo>
                    <a:pt x="514155" y="1402231"/>
                  </a:lnTo>
                  <a:cubicBezTo>
                    <a:pt x="538825" y="1365636"/>
                    <a:pt x="563277" y="1329551"/>
                    <a:pt x="586861" y="1293160"/>
                  </a:cubicBezTo>
                  <a:lnTo>
                    <a:pt x="623702" y="1236892"/>
                  </a:lnTo>
                  <a:cubicBezTo>
                    <a:pt x="636526" y="1217525"/>
                    <a:pt x="649025" y="1198055"/>
                    <a:pt x="662283" y="1178892"/>
                  </a:cubicBezTo>
                  <a:cubicBezTo>
                    <a:pt x="713905" y="1101523"/>
                    <a:pt x="769222" y="1025786"/>
                    <a:pt x="827364" y="951170"/>
                  </a:cubicBezTo>
                  <a:cubicBezTo>
                    <a:pt x="885834" y="876861"/>
                    <a:pt x="947997" y="804283"/>
                    <a:pt x="1016355" y="736089"/>
                  </a:cubicBezTo>
                  <a:cubicBezTo>
                    <a:pt x="1152311" y="599497"/>
                    <a:pt x="1308047" y="476054"/>
                    <a:pt x="1482474" y="378707"/>
                  </a:cubicBezTo>
                  <a:cubicBezTo>
                    <a:pt x="1656793" y="281156"/>
                    <a:pt x="1845132" y="207966"/>
                    <a:pt x="2035644" y="149151"/>
                  </a:cubicBezTo>
                  <a:cubicBezTo>
                    <a:pt x="2131063" y="119997"/>
                    <a:pt x="2227460" y="94412"/>
                    <a:pt x="2324619" y="72802"/>
                  </a:cubicBezTo>
                  <a:cubicBezTo>
                    <a:pt x="2421885" y="51396"/>
                    <a:pt x="2520239" y="35291"/>
                    <a:pt x="2618809" y="24078"/>
                  </a:cubicBezTo>
                  <a:cubicBezTo>
                    <a:pt x="2717272" y="12252"/>
                    <a:pt x="2816168" y="4914"/>
                    <a:pt x="2914849" y="1957"/>
                  </a:cubicBezTo>
                  <a:lnTo>
                    <a:pt x="2951907" y="633"/>
                  </a:lnTo>
                  <a:lnTo>
                    <a:pt x="2990052" y="224"/>
                  </a:lnTo>
                  <a:cubicBezTo>
                    <a:pt x="3002768" y="224"/>
                    <a:pt x="3015592" y="-81"/>
                    <a:pt x="3028307" y="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7" name="Freeform: Shape 16">
              <a:extLst>
                <a:ext uri="{FF2B5EF4-FFF2-40B4-BE49-F238E27FC236}">
                  <a16:creationId xmlns:a16="http://schemas.microsoft.com/office/drawing/2014/main" id="{5C727C6A-DB0B-482E-B0E4-4F035FC023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55526" y="2145638"/>
              <a:ext cx="4336168" cy="4630833"/>
            </a:xfrm>
            <a:custGeom>
              <a:avLst/>
              <a:gdLst>
                <a:gd name="connsiteX0" fmla="*/ 3053738 w 4336168"/>
                <a:gd name="connsiteY0" fmla="*/ 111 h 4630833"/>
                <a:gd name="connsiteX1" fmla="*/ 3093948 w 4336168"/>
                <a:gd name="connsiteY1" fmla="*/ 316 h 4630833"/>
                <a:gd name="connsiteX2" fmla="*/ 3134268 w 4336168"/>
                <a:gd name="connsiteY2" fmla="*/ 1743 h 4630833"/>
                <a:gd name="connsiteX3" fmla="*/ 3295438 w 4336168"/>
                <a:gd name="connsiteY3" fmla="*/ 13058 h 4630833"/>
                <a:gd name="connsiteX4" fmla="*/ 3918813 w 4336168"/>
                <a:gd name="connsiteY4" fmla="*/ 169935 h 4630833"/>
                <a:gd name="connsiteX5" fmla="*/ 4203331 w 4336168"/>
                <a:gd name="connsiteY5" fmla="*/ 305405 h 4630833"/>
                <a:gd name="connsiteX6" fmla="*/ 4336168 w 4336168"/>
                <a:gd name="connsiteY6" fmla="*/ 386579 h 4630833"/>
                <a:gd name="connsiteX7" fmla="*/ 4336168 w 4336168"/>
                <a:gd name="connsiteY7" fmla="*/ 772673 h 4630833"/>
                <a:gd name="connsiteX8" fmla="*/ 4270820 w 4336168"/>
                <a:gd name="connsiteY8" fmla="*/ 728127 h 4630833"/>
                <a:gd name="connsiteX9" fmla="*/ 4030208 w 4336168"/>
                <a:gd name="connsiteY9" fmla="*/ 587253 h 4630833"/>
                <a:gd name="connsiteX10" fmla="*/ 3781010 w 4336168"/>
                <a:gd name="connsiteY10" fmla="*/ 471455 h 4630833"/>
                <a:gd name="connsiteX11" fmla="*/ 3254466 w 4336168"/>
                <a:gd name="connsiteY11" fmla="*/ 338024 h 4630833"/>
                <a:gd name="connsiteX12" fmla="*/ 3117966 w 4336168"/>
                <a:gd name="connsiteY12" fmla="*/ 326812 h 4630833"/>
                <a:gd name="connsiteX13" fmla="*/ 3083625 w 4336168"/>
                <a:gd name="connsiteY13" fmla="*/ 325179 h 4630833"/>
                <a:gd name="connsiteX14" fmla="*/ 3049173 w 4336168"/>
                <a:gd name="connsiteY14" fmla="*/ 324366 h 4630833"/>
                <a:gd name="connsiteX15" fmla="*/ 2978858 w 4336168"/>
                <a:gd name="connsiteY15" fmla="*/ 323855 h 4630833"/>
                <a:gd name="connsiteX16" fmla="*/ 2695862 w 4336168"/>
                <a:gd name="connsiteY16" fmla="*/ 335373 h 4630833"/>
                <a:gd name="connsiteX17" fmla="*/ 2417972 w 4336168"/>
                <a:gd name="connsiteY17" fmla="*/ 372070 h 4630833"/>
                <a:gd name="connsiteX18" fmla="*/ 2148451 w 4336168"/>
                <a:gd name="connsiteY18" fmla="*/ 437613 h 4630833"/>
                <a:gd name="connsiteX19" fmla="*/ 1889690 w 4336168"/>
                <a:gd name="connsiteY19" fmla="*/ 532515 h 4630833"/>
                <a:gd name="connsiteX20" fmla="*/ 1644512 w 4336168"/>
                <a:gd name="connsiteY20" fmla="*/ 658098 h 4630833"/>
                <a:gd name="connsiteX21" fmla="*/ 1200999 w 4336168"/>
                <a:gd name="connsiteY21" fmla="*/ 992137 h 4630833"/>
                <a:gd name="connsiteX22" fmla="*/ 1003531 w 4336168"/>
                <a:gd name="connsiteY22" fmla="*/ 1192234 h 4630833"/>
                <a:gd name="connsiteX23" fmla="*/ 910394 w 4336168"/>
                <a:gd name="connsiteY23" fmla="*/ 1298347 h 4630833"/>
                <a:gd name="connsiteX24" fmla="*/ 821278 w 4336168"/>
                <a:gd name="connsiteY24" fmla="*/ 1408233 h 4630833"/>
                <a:gd name="connsiteX25" fmla="*/ 732162 w 4336168"/>
                <a:gd name="connsiteY25" fmla="*/ 1521993 h 4630833"/>
                <a:gd name="connsiteX26" fmla="*/ 640548 w 4336168"/>
                <a:gd name="connsiteY26" fmla="*/ 1634323 h 4630833"/>
                <a:gd name="connsiteX27" fmla="*/ 457317 w 4336168"/>
                <a:gd name="connsiteY27" fmla="*/ 1855930 h 4630833"/>
                <a:gd name="connsiteX28" fmla="*/ 369288 w 4336168"/>
                <a:gd name="connsiteY28" fmla="*/ 1967955 h 4630833"/>
                <a:gd name="connsiteX29" fmla="*/ 287128 w 4336168"/>
                <a:gd name="connsiteY29" fmla="*/ 2083243 h 4630833"/>
                <a:gd name="connsiteX30" fmla="*/ 212683 w 4336168"/>
                <a:gd name="connsiteY30" fmla="*/ 2202607 h 4630833"/>
                <a:gd name="connsiteX31" fmla="*/ 179101 w 4336168"/>
                <a:gd name="connsiteY31" fmla="*/ 2264177 h 4630833"/>
                <a:gd name="connsiteX32" fmla="*/ 148890 w 4336168"/>
                <a:gd name="connsiteY32" fmla="*/ 2327172 h 4630833"/>
                <a:gd name="connsiteX33" fmla="*/ 61295 w 4336168"/>
                <a:gd name="connsiteY33" fmla="*/ 2590672 h 4630833"/>
                <a:gd name="connsiteX34" fmla="*/ 32604 w 4336168"/>
                <a:gd name="connsiteY34" fmla="*/ 2866202 h 4630833"/>
                <a:gd name="connsiteX35" fmla="*/ 100853 w 4336168"/>
                <a:gd name="connsiteY35" fmla="*/ 3418074 h 4630833"/>
                <a:gd name="connsiteX36" fmla="*/ 184971 w 4336168"/>
                <a:gd name="connsiteY36" fmla="*/ 3684428 h 4630833"/>
                <a:gd name="connsiteX37" fmla="*/ 210836 w 4336168"/>
                <a:gd name="connsiteY37" fmla="*/ 3749462 h 4630833"/>
                <a:gd name="connsiteX38" fmla="*/ 238440 w 4336168"/>
                <a:gd name="connsiteY38" fmla="*/ 3813783 h 4630833"/>
                <a:gd name="connsiteX39" fmla="*/ 252894 w 4336168"/>
                <a:gd name="connsiteY39" fmla="*/ 3845688 h 4630833"/>
                <a:gd name="connsiteX40" fmla="*/ 268109 w 4336168"/>
                <a:gd name="connsiteY40" fmla="*/ 3877287 h 4630833"/>
                <a:gd name="connsiteX41" fmla="*/ 299409 w 4336168"/>
                <a:gd name="connsiteY41" fmla="*/ 3939978 h 4630833"/>
                <a:gd name="connsiteX42" fmla="*/ 440689 w 4336168"/>
                <a:gd name="connsiteY42" fmla="*/ 4182378 h 4630833"/>
                <a:gd name="connsiteX43" fmla="*/ 606640 w 4336168"/>
                <a:gd name="connsiteY43" fmla="*/ 4409488 h 4630833"/>
                <a:gd name="connsiteX44" fmla="*/ 792425 w 4336168"/>
                <a:gd name="connsiteY44" fmla="*/ 4621205 h 4630833"/>
                <a:gd name="connsiteX45" fmla="*/ 802442 w 4336168"/>
                <a:gd name="connsiteY45" fmla="*/ 4630833 h 4630833"/>
                <a:gd name="connsiteX46" fmla="*/ 592561 w 4336168"/>
                <a:gd name="connsiteY46" fmla="*/ 4630833 h 4630833"/>
                <a:gd name="connsiteX47" fmla="*/ 489377 w 4336168"/>
                <a:gd name="connsiteY47" fmla="*/ 4483185 h 4630833"/>
                <a:gd name="connsiteX48" fmla="*/ 344944 w 4336168"/>
                <a:gd name="connsiteY48" fmla="*/ 4231611 h 4630833"/>
                <a:gd name="connsiteX49" fmla="*/ 224311 w 4336168"/>
                <a:gd name="connsiteY49" fmla="*/ 3970456 h 4630833"/>
                <a:gd name="connsiteX50" fmla="*/ 0 w 4336168"/>
                <a:gd name="connsiteY50" fmla="*/ 2866202 h 4630833"/>
                <a:gd name="connsiteX51" fmla="*/ 25105 w 4336168"/>
                <a:gd name="connsiteY51" fmla="*/ 2584351 h 4630833"/>
                <a:gd name="connsiteX52" fmla="*/ 105200 w 4336168"/>
                <a:gd name="connsiteY52" fmla="*/ 2310863 h 4630833"/>
                <a:gd name="connsiteX53" fmla="*/ 232245 w 4336168"/>
                <a:gd name="connsiteY53" fmla="*/ 2053172 h 4630833"/>
                <a:gd name="connsiteX54" fmla="*/ 307667 w 4336168"/>
                <a:gd name="connsiteY54" fmla="*/ 1930341 h 4630833"/>
                <a:gd name="connsiteX55" fmla="*/ 386893 w 4336168"/>
                <a:gd name="connsiteY55" fmla="*/ 1810161 h 4630833"/>
                <a:gd name="connsiteX56" fmla="*/ 548823 w 4336168"/>
                <a:gd name="connsiteY56" fmla="*/ 1573876 h 4630833"/>
                <a:gd name="connsiteX57" fmla="*/ 626419 w 4336168"/>
                <a:gd name="connsiteY57" fmla="*/ 1455224 h 4630833"/>
                <a:gd name="connsiteX58" fmla="*/ 701081 w 4336168"/>
                <a:gd name="connsiteY58" fmla="*/ 1334534 h 4630833"/>
                <a:gd name="connsiteX59" fmla="*/ 861162 w 4336168"/>
                <a:gd name="connsiteY59" fmla="*/ 1091320 h 4630833"/>
                <a:gd name="connsiteX60" fmla="*/ 1042329 w 4336168"/>
                <a:gd name="connsiteY60" fmla="*/ 858093 h 4630833"/>
                <a:gd name="connsiteX61" fmla="*/ 1487799 w 4336168"/>
                <a:gd name="connsiteY61" fmla="*/ 446686 h 4630833"/>
                <a:gd name="connsiteX62" fmla="*/ 1754060 w 4336168"/>
                <a:gd name="connsiteY62" fmla="*/ 283388 h 4630833"/>
                <a:gd name="connsiteX63" fmla="*/ 2044121 w 4336168"/>
                <a:gd name="connsiteY63" fmla="*/ 157906 h 4630833"/>
                <a:gd name="connsiteX64" fmla="*/ 2349287 w 4336168"/>
                <a:gd name="connsiteY64" fmla="*/ 71364 h 4630833"/>
                <a:gd name="connsiteX65" fmla="*/ 2661411 w 4336168"/>
                <a:gd name="connsiteY65" fmla="*/ 21213 h 4630833"/>
                <a:gd name="connsiteX66" fmla="*/ 2818124 w 4336168"/>
                <a:gd name="connsiteY66" fmla="*/ 7146 h 4630833"/>
                <a:gd name="connsiteX67" fmla="*/ 2974728 w 4336168"/>
                <a:gd name="connsiteY67" fmla="*/ 1029 h 4630833"/>
                <a:gd name="connsiteX68" fmla="*/ 3053738 w 4336168"/>
                <a:gd name="connsiteY68" fmla="*/ 111 h 4630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4336168" h="4630833">
                  <a:moveTo>
                    <a:pt x="3053738" y="111"/>
                  </a:moveTo>
                  <a:lnTo>
                    <a:pt x="3093948" y="316"/>
                  </a:lnTo>
                  <a:lnTo>
                    <a:pt x="3134268" y="1743"/>
                  </a:lnTo>
                  <a:cubicBezTo>
                    <a:pt x="3187955" y="3475"/>
                    <a:pt x="3241749" y="7756"/>
                    <a:pt x="3295438" y="13058"/>
                  </a:cubicBezTo>
                  <a:cubicBezTo>
                    <a:pt x="3510076" y="35585"/>
                    <a:pt x="3722324" y="89406"/>
                    <a:pt x="3918813" y="169935"/>
                  </a:cubicBezTo>
                  <a:cubicBezTo>
                    <a:pt x="4017384" y="209689"/>
                    <a:pt x="4111933" y="255763"/>
                    <a:pt x="4203331" y="305405"/>
                  </a:cubicBezTo>
                  <a:lnTo>
                    <a:pt x="4336168" y="386579"/>
                  </a:lnTo>
                  <a:lnTo>
                    <a:pt x="4336168" y="772673"/>
                  </a:lnTo>
                  <a:lnTo>
                    <a:pt x="4270820" y="728127"/>
                  </a:lnTo>
                  <a:cubicBezTo>
                    <a:pt x="4191920" y="677771"/>
                    <a:pt x="4111825" y="630168"/>
                    <a:pt x="4030208" y="587253"/>
                  </a:cubicBezTo>
                  <a:cubicBezTo>
                    <a:pt x="3948699" y="544136"/>
                    <a:pt x="3865886" y="504687"/>
                    <a:pt x="3781010" y="471455"/>
                  </a:cubicBezTo>
                  <a:cubicBezTo>
                    <a:pt x="3611688" y="404384"/>
                    <a:pt x="3435522" y="358818"/>
                    <a:pt x="3254466" y="338024"/>
                  </a:cubicBezTo>
                  <a:cubicBezTo>
                    <a:pt x="3209255" y="333029"/>
                    <a:pt x="3163720" y="328748"/>
                    <a:pt x="3117966" y="326812"/>
                  </a:cubicBezTo>
                  <a:lnTo>
                    <a:pt x="3083625" y="325179"/>
                  </a:lnTo>
                  <a:lnTo>
                    <a:pt x="3049173" y="324366"/>
                  </a:lnTo>
                  <a:cubicBezTo>
                    <a:pt x="3026568" y="323447"/>
                    <a:pt x="3002550" y="323855"/>
                    <a:pt x="2978858" y="323855"/>
                  </a:cubicBezTo>
                  <a:cubicBezTo>
                    <a:pt x="2883983" y="323956"/>
                    <a:pt x="2789434" y="327423"/>
                    <a:pt x="2695862" y="335373"/>
                  </a:cubicBezTo>
                  <a:cubicBezTo>
                    <a:pt x="2602290" y="343223"/>
                    <a:pt x="2509371" y="354945"/>
                    <a:pt x="2417972" y="372070"/>
                  </a:cubicBezTo>
                  <a:cubicBezTo>
                    <a:pt x="2326683" y="389500"/>
                    <a:pt x="2236697" y="411009"/>
                    <a:pt x="2148451" y="437613"/>
                  </a:cubicBezTo>
                  <a:cubicBezTo>
                    <a:pt x="2060204" y="464116"/>
                    <a:pt x="1973588" y="495411"/>
                    <a:pt x="1889690" y="532515"/>
                  </a:cubicBezTo>
                  <a:cubicBezTo>
                    <a:pt x="1805247" y="568599"/>
                    <a:pt x="1723848" y="611411"/>
                    <a:pt x="1644512" y="658098"/>
                  </a:cubicBezTo>
                  <a:cubicBezTo>
                    <a:pt x="1486169" y="751979"/>
                    <a:pt x="1338149" y="865229"/>
                    <a:pt x="1200999" y="992137"/>
                  </a:cubicBezTo>
                  <a:cubicBezTo>
                    <a:pt x="1132531" y="1055744"/>
                    <a:pt x="1066782" y="1122715"/>
                    <a:pt x="1003531" y="1192234"/>
                  </a:cubicBezTo>
                  <a:cubicBezTo>
                    <a:pt x="971688" y="1226790"/>
                    <a:pt x="941150" y="1262568"/>
                    <a:pt x="910394" y="1298347"/>
                  </a:cubicBezTo>
                  <a:cubicBezTo>
                    <a:pt x="880507" y="1334738"/>
                    <a:pt x="850187" y="1370925"/>
                    <a:pt x="821278" y="1408233"/>
                  </a:cubicBezTo>
                  <a:cubicBezTo>
                    <a:pt x="792152" y="1444624"/>
                    <a:pt x="762266" y="1484480"/>
                    <a:pt x="732162" y="1521993"/>
                  </a:cubicBezTo>
                  <a:cubicBezTo>
                    <a:pt x="701950" y="1559810"/>
                    <a:pt x="671302" y="1597219"/>
                    <a:pt x="640548" y="1634323"/>
                  </a:cubicBezTo>
                  <a:cubicBezTo>
                    <a:pt x="579362" y="1708838"/>
                    <a:pt x="516980" y="1781618"/>
                    <a:pt x="457317" y="1855930"/>
                  </a:cubicBezTo>
                  <a:cubicBezTo>
                    <a:pt x="427540" y="1893033"/>
                    <a:pt x="397870" y="1930239"/>
                    <a:pt x="369288" y="1967955"/>
                  </a:cubicBezTo>
                  <a:cubicBezTo>
                    <a:pt x="341141" y="2005976"/>
                    <a:pt x="313211" y="2044100"/>
                    <a:pt x="287128" y="2083243"/>
                  </a:cubicBezTo>
                  <a:cubicBezTo>
                    <a:pt x="260936" y="2122284"/>
                    <a:pt x="235506" y="2161835"/>
                    <a:pt x="212683" y="2202607"/>
                  </a:cubicBezTo>
                  <a:cubicBezTo>
                    <a:pt x="200728" y="2222791"/>
                    <a:pt x="190187" y="2243586"/>
                    <a:pt x="179101" y="2264177"/>
                  </a:cubicBezTo>
                  <a:cubicBezTo>
                    <a:pt x="168886" y="2285072"/>
                    <a:pt x="158127" y="2305867"/>
                    <a:pt x="148890" y="2327172"/>
                  </a:cubicBezTo>
                  <a:cubicBezTo>
                    <a:pt x="109982" y="2411777"/>
                    <a:pt x="81183" y="2500256"/>
                    <a:pt x="61295" y="2590672"/>
                  </a:cubicBezTo>
                  <a:cubicBezTo>
                    <a:pt x="42386" y="2681292"/>
                    <a:pt x="33147" y="2773643"/>
                    <a:pt x="32604" y="2866202"/>
                  </a:cubicBezTo>
                  <a:cubicBezTo>
                    <a:pt x="32495" y="3051925"/>
                    <a:pt x="55643" y="3237650"/>
                    <a:pt x="100853" y="3418074"/>
                  </a:cubicBezTo>
                  <a:cubicBezTo>
                    <a:pt x="123133" y="3508490"/>
                    <a:pt x="151498" y="3597377"/>
                    <a:pt x="184971" y="3684428"/>
                  </a:cubicBezTo>
                  <a:cubicBezTo>
                    <a:pt x="192796" y="3706344"/>
                    <a:pt x="202250" y="3727751"/>
                    <a:pt x="210836" y="3749462"/>
                  </a:cubicBezTo>
                  <a:cubicBezTo>
                    <a:pt x="219421" y="3771175"/>
                    <a:pt x="228985" y="3792479"/>
                    <a:pt x="238440" y="3813783"/>
                  </a:cubicBezTo>
                  <a:lnTo>
                    <a:pt x="252894" y="3845688"/>
                  </a:lnTo>
                  <a:lnTo>
                    <a:pt x="268109" y="3877287"/>
                  </a:lnTo>
                  <a:cubicBezTo>
                    <a:pt x="278215" y="3898287"/>
                    <a:pt x="288432" y="3919284"/>
                    <a:pt x="299409" y="3939978"/>
                  </a:cubicBezTo>
                  <a:cubicBezTo>
                    <a:pt x="341792" y="4023258"/>
                    <a:pt x="389828" y="4103787"/>
                    <a:pt x="440689" y="4182378"/>
                  </a:cubicBezTo>
                  <a:cubicBezTo>
                    <a:pt x="492420" y="4260561"/>
                    <a:pt x="547953" y="4336299"/>
                    <a:pt x="606640" y="4409488"/>
                  </a:cubicBezTo>
                  <a:cubicBezTo>
                    <a:pt x="665381" y="4482677"/>
                    <a:pt x="727435" y="4553292"/>
                    <a:pt x="792425" y="4621205"/>
                  </a:cubicBezTo>
                  <a:lnTo>
                    <a:pt x="802442" y="4630833"/>
                  </a:lnTo>
                  <a:lnTo>
                    <a:pt x="592561" y="4630833"/>
                  </a:lnTo>
                  <a:lnTo>
                    <a:pt x="489377" y="4483185"/>
                  </a:lnTo>
                  <a:cubicBezTo>
                    <a:pt x="437212" y="4401230"/>
                    <a:pt x="388850" y="4317339"/>
                    <a:pt x="344944" y="4231611"/>
                  </a:cubicBezTo>
                  <a:cubicBezTo>
                    <a:pt x="300386" y="4146191"/>
                    <a:pt x="260828" y="4058731"/>
                    <a:pt x="224311" y="3970456"/>
                  </a:cubicBezTo>
                  <a:cubicBezTo>
                    <a:pt x="78901" y="3617049"/>
                    <a:pt x="1413" y="3242136"/>
                    <a:pt x="0" y="2866202"/>
                  </a:cubicBezTo>
                  <a:cubicBezTo>
                    <a:pt x="0" y="2771912"/>
                    <a:pt x="8043" y="2677417"/>
                    <a:pt x="25105" y="2584351"/>
                  </a:cubicBezTo>
                  <a:cubicBezTo>
                    <a:pt x="42928" y="2491285"/>
                    <a:pt x="69446" y="2399444"/>
                    <a:pt x="105200" y="2310863"/>
                  </a:cubicBezTo>
                  <a:cubicBezTo>
                    <a:pt x="140304" y="2221974"/>
                    <a:pt x="184318" y="2136351"/>
                    <a:pt x="232245" y="2053172"/>
                  </a:cubicBezTo>
                  <a:cubicBezTo>
                    <a:pt x="256154" y="2011379"/>
                    <a:pt x="281802" y="1970810"/>
                    <a:pt x="307667" y="1930341"/>
                  </a:cubicBezTo>
                  <a:cubicBezTo>
                    <a:pt x="333533" y="1889873"/>
                    <a:pt x="360049" y="1849915"/>
                    <a:pt x="386893" y="1810161"/>
                  </a:cubicBezTo>
                  <a:lnTo>
                    <a:pt x="548823" y="1573876"/>
                  </a:lnTo>
                  <a:cubicBezTo>
                    <a:pt x="575341" y="1534529"/>
                    <a:pt x="601098" y="1494877"/>
                    <a:pt x="626419" y="1455224"/>
                  </a:cubicBezTo>
                  <a:cubicBezTo>
                    <a:pt x="651959" y="1415266"/>
                    <a:pt x="675434" y="1376225"/>
                    <a:pt x="701081" y="1334534"/>
                  </a:cubicBezTo>
                  <a:cubicBezTo>
                    <a:pt x="751290" y="1252070"/>
                    <a:pt x="804324" y="1170828"/>
                    <a:pt x="861162" y="1091320"/>
                  </a:cubicBezTo>
                  <a:cubicBezTo>
                    <a:pt x="917894" y="1011810"/>
                    <a:pt x="977884" y="933729"/>
                    <a:pt x="1042329" y="858093"/>
                  </a:cubicBezTo>
                  <a:cubicBezTo>
                    <a:pt x="1171765" y="707536"/>
                    <a:pt x="1319348" y="566764"/>
                    <a:pt x="1487799" y="446686"/>
                  </a:cubicBezTo>
                  <a:cubicBezTo>
                    <a:pt x="1571699" y="386340"/>
                    <a:pt x="1661031" y="332010"/>
                    <a:pt x="1754060" y="283388"/>
                  </a:cubicBezTo>
                  <a:cubicBezTo>
                    <a:pt x="1847414" y="235478"/>
                    <a:pt x="1944463" y="193278"/>
                    <a:pt x="2044121" y="157906"/>
                  </a:cubicBezTo>
                  <a:cubicBezTo>
                    <a:pt x="2143778" y="122638"/>
                    <a:pt x="2245936" y="93789"/>
                    <a:pt x="2349287" y="71364"/>
                  </a:cubicBezTo>
                  <a:cubicBezTo>
                    <a:pt x="2452641" y="48939"/>
                    <a:pt x="2556971" y="32935"/>
                    <a:pt x="2661411" y="21213"/>
                  </a:cubicBezTo>
                  <a:cubicBezTo>
                    <a:pt x="2713576" y="14994"/>
                    <a:pt x="2765850" y="11222"/>
                    <a:pt x="2818124" y="7146"/>
                  </a:cubicBezTo>
                  <a:cubicBezTo>
                    <a:pt x="2870290" y="4596"/>
                    <a:pt x="2922672" y="1640"/>
                    <a:pt x="2974728" y="1029"/>
                  </a:cubicBezTo>
                  <a:cubicBezTo>
                    <a:pt x="3000811" y="519"/>
                    <a:pt x="3026568" y="-296"/>
                    <a:pt x="3053738" y="11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8" name="Group 27">
            <a:extLst>
              <a:ext uri="{FF2B5EF4-FFF2-40B4-BE49-F238E27FC236}">
                <a16:creationId xmlns:a16="http://schemas.microsoft.com/office/drawing/2014/main" id="{2786ABD8-AB9F-46F2-A7D9-36F1F7338C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5112326" y="0"/>
            <a:ext cx="4683941" cy="3456291"/>
            <a:chOff x="4345582" y="0"/>
            <a:chExt cx="5069918" cy="3741104"/>
          </a:xfrm>
          <a:solidFill>
            <a:schemeClr val="accent5">
              <a:alpha val="5000"/>
            </a:schemeClr>
          </a:solidFill>
        </p:grpSpPr>
        <p:sp>
          <p:nvSpPr>
            <p:cNvPr id="29" name="Freeform: Shape 19">
              <a:extLst>
                <a:ext uri="{FF2B5EF4-FFF2-40B4-BE49-F238E27FC236}">
                  <a16:creationId xmlns:a16="http://schemas.microsoft.com/office/drawing/2014/main" id="{DB26E49F-E19A-487B-A8A4-A26128CFDC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45582" y="1"/>
              <a:ext cx="5069918" cy="3741103"/>
            </a:xfrm>
            <a:custGeom>
              <a:avLst/>
              <a:gdLst>
                <a:gd name="connsiteX0" fmla="*/ 475344 w 5069918"/>
                <a:gd name="connsiteY0" fmla="*/ 0 h 3741103"/>
                <a:gd name="connsiteX1" fmla="*/ 643707 w 5069918"/>
                <a:gd name="connsiteY1" fmla="*/ 0 h 3741103"/>
                <a:gd name="connsiteX2" fmla="*/ 635672 w 5069918"/>
                <a:gd name="connsiteY2" fmla="*/ 7778 h 3741103"/>
                <a:gd name="connsiteX3" fmla="*/ 486638 w 5069918"/>
                <a:gd name="connsiteY3" fmla="*/ 178818 h 3741103"/>
                <a:gd name="connsiteX4" fmla="*/ 353514 w 5069918"/>
                <a:gd name="connsiteY4" fmla="*/ 362293 h 3741103"/>
                <a:gd name="connsiteX5" fmla="*/ 240181 w 5069918"/>
                <a:gd name="connsiteY5" fmla="*/ 558120 h 3741103"/>
                <a:gd name="connsiteX6" fmla="*/ 215073 w 5069918"/>
                <a:gd name="connsiteY6" fmla="*/ 608766 h 3741103"/>
                <a:gd name="connsiteX7" fmla="*/ 202868 w 5069918"/>
                <a:gd name="connsiteY7" fmla="*/ 634294 h 3741103"/>
                <a:gd name="connsiteX8" fmla="*/ 191273 w 5069918"/>
                <a:gd name="connsiteY8" fmla="*/ 660069 h 3741103"/>
                <a:gd name="connsiteX9" fmla="*/ 169129 w 5069918"/>
                <a:gd name="connsiteY9" fmla="*/ 712032 h 3741103"/>
                <a:gd name="connsiteX10" fmla="*/ 148381 w 5069918"/>
                <a:gd name="connsiteY10" fmla="*/ 764571 h 3741103"/>
                <a:gd name="connsiteX11" fmla="*/ 80903 w 5069918"/>
                <a:gd name="connsiteY11" fmla="*/ 979750 h 3741103"/>
                <a:gd name="connsiteX12" fmla="*/ 26154 w 5069918"/>
                <a:gd name="connsiteY12" fmla="*/ 1425590 h 3741103"/>
                <a:gd name="connsiteX13" fmla="*/ 49170 w 5069918"/>
                <a:gd name="connsiteY13" fmla="*/ 1648182 h 3741103"/>
                <a:gd name="connsiteX14" fmla="*/ 119437 w 5069918"/>
                <a:gd name="connsiteY14" fmla="*/ 1861055 h 3741103"/>
                <a:gd name="connsiteX15" fmla="*/ 143672 w 5069918"/>
                <a:gd name="connsiteY15" fmla="*/ 1911947 h 3741103"/>
                <a:gd name="connsiteX16" fmla="*/ 170611 w 5069918"/>
                <a:gd name="connsiteY16" fmla="*/ 1961687 h 3741103"/>
                <a:gd name="connsiteX17" fmla="*/ 230330 w 5069918"/>
                <a:gd name="connsiteY17" fmla="*/ 2058118 h 3741103"/>
                <a:gd name="connsiteX18" fmla="*/ 296237 w 5069918"/>
                <a:gd name="connsiteY18" fmla="*/ 2151255 h 3741103"/>
                <a:gd name="connsiteX19" fmla="*/ 366853 w 5069918"/>
                <a:gd name="connsiteY19" fmla="*/ 2241757 h 3741103"/>
                <a:gd name="connsiteX20" fmla="*/ 513838 w 5069918"/>
                <a:gd name="connsiteY20" fmla="*/ 2420786 h 3741103"/>
                <a:gd name="connsiteX21" fmla="*/ 587330 w 5069918"/>
                <a:gd name="connsiteY21" fmla="*/ 2511534 h 3741103"/>
                <a:gd name="connsiteX22" fmla="*/ 658817 w 5069918"/>
                <a:gd name="connsiteY22" fmla="*/ 2603437 h 3741103"/>
                <a:gd name="connsiteX23" fmla="*/ 730305 w 5069918"/>
                <a:gd name="connsiteY23" fmla="*/ 2692210 h 3741103"/>
                <a:gd name="connsiteX24" fmla="*/ 805018 w 5069918"/>
                <a:gd name="connsiteY24" fmla="*/ 2777936 h 3741103"/>
                <a:gd name="connsiteX25" fmla="*/ 963424 w 5069918"/>
                <a:gd name="connsiteY25" fmla="*/ 2939588 h 3741103"/>
                <a:gd name="connsiteX26" fmla="*/ 1319204 w 5069918"/>
                <a:gd name="connsiteY26" fmla="*/ 3209447 h 3741103"/>
                <a:gd name="connsiteX27" fmla="*/ 1515882 w 5069918"/>
                <a:gd name="connsiteY27" fmla="*/ 3310902 h 3741103"/>
                <a:gd name="connsiteX28" fmla="*/ 1723456 w 5069918"/>
                <a:gd name="connsiteY28" fmla="*/ 3387570 h 3741103"/>
                <a:gd name="connsiteX29" fmla="*/ 1939662 w 5069918"/>
                <a:gd name="connsiteY29" fmla="*/ 3440520 h 3741103"/>
                <a:gd name="connsiteX30" fmla="*/ 2162581 w 5069918"/>
                <a:gd name="connsiteY30" fmla="*/ 3470167 h 3741103"/>
                <a:gd name="connsiteX31" fmla="*/ 2389597 w 5069918"/>
                <a:gd name="connsiteY31" fmla="*/ 3479472 h 3741103"/>
                <a:gd name="connsiteX32" fmla="*/ 2446002 w 5069918"/>
                <a:gd name="connsiteY32" fmla="*/ 3479059 h 3741103"/>
                <a:gd name="connsiteX33" fmla="*/ 2473639 w 5069918"/>
                <a:gd name="connsiteY33" fmla="*/ 3478402 h 3741103"/>
                <a:gd name="connsiteX34" fmla="*/ 2501187 w 5069918"/>
                <a:gd name="connsiteY34" fmla="*/ 3477083 h 3741103"/>
                <a:gd name="connsiteX35" fmla="*/ 2610685 w 5069918"/>
                <a:gd name="connsiteY35" fmla="*/ 3468025 h 3741103"/>
                <a:gd name="connsiteX36" fmla="*/ 3033071 w 5069918"/>
                <a:gd name="connsiteY36" fmla="*/ 3360230 h 3741103"/>
                <a:gd name="connsiteX37" fmla="*/ 3232974 w 5069918"/>
                <a:gd name="connsiteY37" fmla="*/ 3266681 h 3741103"/>
                <a:gd name="connsiteX38" fmla="*/ 3425990 w 5069918"/>
                <a:gd name="connsiteY38" fmla="*/ 3152873 h 3741103"/>
                <a:gd name="connsiteX39" fmla="*/ 3613601 w 5069918"/>
                <a:gd name="connsiteY39" fmla="*/ 3024078 h 3741103"/>
                <a:gd name="connsiteX40" fmla="*/ 3706185 w 5069918"/>
                <a:gd name="connsiteY40" fmla="*/ 2955893 h 3741103"/>
                <a:gd name="connsiteX41" fmla="*/ 3799729 w 5069918"/>
                <a:gd name="connsiteY41" fmla="*/ 2885155 h 3741103"/>
                <a:gd name="connsiteX42" fmla="*/ 4175561 w 5069918"/>
                <a:gd name="connsiteY42" fmla="*/ 2606072 h 3741103"/>
                <a:gd name="connsiteX43" fmla="*/ 4517132 w 5069918"/>
                <a:gd name="connsiteY43" fmla="*/ 2312331 h 3741103"/>
                <a:gd name="connsiteX44" fmla="*/ 4659758 w 5069918"/>
                <a:gd name="connsiteY44" fmla="*/ 2148703 h 3741103"/>
                <a:gd name="connsiteX45" fmla="*/ 4773178 w 5069918"/>
                <a:gd name="connsiteY45" fmla="*/ 1969674 h 3741103"/>
                <a:gd name="connsiteX46" fmla="*/ 4892092 w 5069918"/>
                <a:gd name="connsiteY46" fmla="*/ 1567562 h 3741103"/>
                <a:gd name="connsiteX47" fmla="*/ 4898804 w 5069918"/>
                <a:gd name="connsiteY47" fmla="*/ 1460754 h 3741103"/>
                <a:gd name="connsiteX48" fmla="*/ 4899153 w 5069918"/>
                <a:gd name="connsiteY48" fmla="*/ 1406239 h 3741103"/>
                <a:gd name="connsiteX49" fmla="*/ 4898456 w 5069918"/>
                <a:gd name="connsiteY49" fmla="*/ 1350735 h 3741103"/>
                <a:gd name="connsiteX50" fmla="*/ 4886774 w 5069918"/>
                <a:gd name="connsiteY50" fmla="*/ 1128886 h 3741103"/>
                <a:gd name="connsiteX51" fmla="*/ 4815896 w 5069918"/>
                <a:gd name="connsiteY51" fmla="*/ 689221 h 3741103"/>
                <a:gd name="connsiteX52" fmla="*/ 4673183 w 5069918"/>
                <a:gd name="connsiteY52" fmla="*/ 264874 h 3741103"/>
                <a:gd name="connsiteX53" fmla="*/ 4625496 w 5069918"/>
                <a:gd name="connsiteY53" fmla="*/ 162925 h 3741103"/>
                <a:gd name="connsiteX54" fmla="*/ 4572490 w 5069918"/>
                <a:gd name="connsiteY54" fmla="*/ 63364 h 3741103"/>
                <a:gd name="connsiteX55" fmla="*/ 4532299 w 5069918"/>
                <a:gd name="connsiteY55" fmla="*/ 0 h 3741103"/>
                <a:gd name="connsiteX56" fmla="*/ 4626680 w 5069918"/>
                <a:gd name="connsiteY56" fmla="*/ 0 h 3741103"/>
                <a:gd name="connsiteX57" fmla="*/ 4643978 w 5069918"/>
                <a:gd name="connsiteY57" fmla="*/ 26636 h 3741103"/>
                <a:gd name="connsiteX58" fmla="*/ 4700644 w 5069918"/>
                <a:gd name="connsiteY58" fmla="*/ 128338 h 3741103"/>
                <a:gd name="connsiteX59" fmla="*/ 4753214 w 5069918"/>
                <a:gd name="connsiteY59" fmla="*/ 232016 h 3741103"/>
                <a:gd name="connsiteX60" fmla="*/ 4921297 w 5069918"/>
                <a:gd name="connsiteY60" fmla="*/ 663363 h 3741103"/>
                <a:gd name="connsiteX61" fmla="*/ 5027482 w 5069918"/>
                <a:gd name="connsiteY61" fmla="*/ 1112991 h 3741103"/>
                <a:gd name="connsiteX62" fmla="*/ 5058082 w 5069918"/>
                <a:gd name="connsiteY62" fmla="*/ 1342088 h 3741103"/>
                <a:gd name="connsiteX63" fmla="*/ 5063486 w 5069918"/>
                <a:gd name="connsiteY63" fmla="*/ 1399651 h 3741103"/>
                <a:gd name="connsiteX64" fmla="*/ 5067846 w 5069918"/>
                <a:gd name="connsiteY64" fmla="*/ 1458284 h 3741103"/>
                <a:gd name="connsiteX65" fmla="*/ 5069414 w 5069918"/>
                <a:gd name="connsiteY65" fmla="*/ 1577772 h 3741103"/>
                <a:gd name="connsiteX66" fmla="*/ 5040732 w 5069918"/>
                <a:gd name="connsiteY66" fmla="*/ 1817822 h 3741103"/>
                <a:gd name="connsiteX67" fmla="*/ 4964102 w 5069918"/>
                <a:gd name="connsiteY67" fmla="*/ 2050871 h 3741103"/>
                <a:gd name="connsiteX68" fmla="*/ 4689486 w 5069918"/>
                <a:gd name="connsiteY68" fmla="*/ 2458008 h 3741103"/>
                <a:gd name="connsiteX69" fmla="*/ 4333792 w 5069918"/>
                <a:gd name="connsiteY69" fmla="*/ 2784606 h 3741103"/>
                <a:gd name="connsiteX70" fmla="*/ 3965197 w 5069918"/>
                <a:gd name="connsiteY70" fmla="*/ 3076041 h 3741103"/>
                <a:gd name="connsiteX71" fmla="*/ 3873745 w 5069918"/>
                <a:gd name="connsiteY71" fmla="*/ 3149167 h 3741103"/>
                <a:gd name="connsiteX72" fmla="*/ 3779416 w 5069918"/>
                <a:gd name="connsiteY72" fmla="*/ 3222705 h 3741103"/>
                <a:gd name="connsiteX73" fmla="*/ 3582739 w 5069918"/>
                <a:gd name="connsiteY73" fmla="*/ 3364594 h 3741103"/>
                <a:gd name="connsiteX74" fmla="*/ 3371851 w 5069918"/>
                <a:gd name="connsiteY74" fmla="*/ 3494377 h 3741103"/>
                <a:gd name="connsiteX75" fmla="*/ 3143615 w 5069918"/>
                <a:gd name="connsiteY75" fmla="*/ 3603819 h 3741103"/>
                <a:gd name="connsiteX76" fmla="*/ 2643552 w 5069918"/>
                <a:gd name="connsiteY76" fmla="*/ 3730555 h 3741103"/>
                <a:gd name="connsiteX77" fmla="*/ 2514264 w 5069918"/>
                <a:gd name="connsiteY77" fmla="*/ 3739696 h 3741103"/>
                <a:gd name="connsiteX78" fmla="*/ 2481920 w 5069918"/>
                <a:gd name="connsiteY78" fmla="*/ 3740849 h 3741103"/>
                <a:gd name="connsiteX79" fmla="*/ 2449664 w 5069918"/>
                <a:gd name="connsiteY79" fmla="*/ 3741014 h 3741103"/>
                <a:gd name="connsiteX80" fmla="*/ 2386284 w 5069918"/>
                <a:gd name="connsiteY80" fmla="*/ 3740273 h 3741103"/>
                <a:gd name="connsiteX81" fmla="*/ 2260658 w 5069918"/>
                <a:gd name="connsiteY81" fmla="*/ 3735331 h 3741103"/>
                <a:gd name="connsiteX82" fmla="*/ 2134945 w 5069918"/>
                <a:gd name="connsiteY82" fmla="*/ 3723967 h 3741103"/>
                <a:gd name="connsiteX83" fmla="*/ 1884564 w 5069918"/>
                <a:gd name="connsiteY83" fmla="*/ 3683451 h 3741103"/>
                <a:gd name="connsiteX84" fmla="*/ 1639764 w 5069918"/>
                <a:gd name="connsiteY84" fmla="*/ 3613537 h 3741103"/>
                <a:gd name="connsiteX85" fmla="*/ 1407081 w 5069918"/>
                <a:gd name="connsiteY85" fmla="*/ 3512164 h 3741103"/>
                <a:gd name="connsiteX86" fmla="*/ 1193491 w 5069918"/>
                <a:gd name="connsiteY86" fmla="*/ 3380240 h 3741103"/>
                <a:gd name="connsiteX87" fmla="*/ 836141 w 5069918"/>
                <a:gd name="connsiteY87" fmla="*/ 3047878 h 3741103"/>
                <a:gd name="connsiteX88" fmla="*/ 690812 w 5069918"/>
                <a:gd name="connsiteY88" fmla="*/ 2859461 h 3741103"/>
                <a:gd name="connsiteX89" fmla="*/ 562397 w 5069918"/>
                <a:gd name="connsiteY89" fmla="*/ 2662976 h 3741103"/>
                <a:gd name="connsiteX90" fmla="*/ 502504 w 5069918"/>
                <a:gd name="connsiteY90" fmla="*/ 2565474 h 3741103"/>
                <a:gd name="connsiteX91" fmla="*/ 440258 w 5069918"/>
                <a:gd name="connsiteY91" fmla="*/ 2469619 h 3741103"/>
                <a:gd name="connsiteX92" fmla="*/ 310360 w 5069918"/>
                <a:gd name="connsiteY92" fmla="*/ 2278732 h 3741103"/>
                <a:gd name="connsiteX93" fmla="*/ 246806 w 5069918"/>
                <a:gd name="connsiteY93" fmla="*/ 2181642 h 3741103"/>
                <a:gd name="connsiteX94" fmla="*/ 186303 w 5069918"/>
                <a:gd name="connsiteY94" fmla="*/ 2082411 h 3741103"/>
                <a:gd name="connsiteX95" fmla="*/ 84390 w 5069918"/>
                <a:gd name="connsiteY95" fmla="*/ 1874231 h 3741103"/>
                <a:gd name="connsiteX96" fmla="*/ 20139 w 5069918"/>
                <a:gd name="connsiteY96" fmla="*/ 1653288 h 3741103"/>
                <a:gd name="connsiteX97" fmla="*/ 0 w 5069918"/>
                <a:gd name="connsiteY97" fmla="*/ 1425590 h 3741103"/>
                <a:gd name="connsiteX98" fmla="*/ 179939 w 5069918"/>
                <a:gd name="connsiteY98" fmla="*/ 533498 h 3741103"/>
                <a:gd name="connsiteX99" fmla="*/ 276709 w 5069918"/>
                <a:gd name="connsiteY99" fmla="*/ 322519 h 3741103"/>
                <a:gd name="connsiteX100" fmla="*/ 392571 w 5069918"/>
                <a:gd name="connsiteY100" fmla="*/ 119280 h 3741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5069918" h="3741103">
                  <a:moveTo>
                    <a:pt x="475344" y="0"/>
                  </a:moveTo>
                  <a:lnTo>
                    <a:pt x="643707" y="0"/>
                  </a:lnTo>
                  <a:lnTo>
                    <a:pt x="635672" y="7778"/>
                  </a:lnTo>
                  <a:cubicBezTo>
                    <a:pt x="583538" y="62643"/>
                    <a:pt x="533759" y="119691"/>
                    <a:pt x="486638" y="178818"/>
                  </a:cubicBezTo>
                  <a:cubicBezTo>
                    <a:pt x="439560" y="237945"/>
                    <a:pt x="395012" y="299131"/>
                    <a:pt x="353514" y="362293"/>
                  </a:cubicBezTo>
                  <a:cubicBezTo>
                    <a:pt x="312714" y="425784"/>
                    <a:pt x="274180" y="490841"/>
                    <a:pt x="240181" y="558120"/>
                  </a:cubicBezTo>
                  <a:cubicBezTo>
                    <a:pt x="231376" y="574838"/>
                    <a:pt x="223180" y="591801"/>
                    <a:pt x="215073" y="608766"/>
                  </a:cubicBezTo>
                  <a:lnTo>
                    <a:pt x="202868" y="634294"/>
                  </a:lnTo>
                  <a:lnTo>
                    <a:pt x="191273" y="660069"/>
                  </a:lnTo>
                  <a:cubicBezTo>
                    <a:pt x="183688" y="677280"/>
                    <a:pt x="176016" y="694491"/>
                    <a:pt x="169129" y="712032"/>
                  </a:cubicBezTo>
                  <a:cubicBezTo>
                    <a:pt x="162242" y="729572"/>
                    <a:pt x="154658" y="746866"/>
                    <a:pt x="148381" y="764571"/>
                  </a:cubicBezTo>
                  <a:cubicBezTo>
                    <a:pt x="121529" y="834897"/>
                    <a:pt x="98775" y="906706"/>
                    <a:pt x="80903" y="979750"/>
                  </a:cubicBezTo>
                  <a:cubicBezTo>
                    <a:pt x="44636" y="1125509"/>
                    <a:pt x="26067" y="1275550"/>
                    <a:pt x="26154" y="1425590"/>
                  </a:cubicBezTo>
                  <a:cubicBezTo>
                    <a:pt x="26590" y="1500365"/>
                    <a:pt x="34001" y="1574973"/>
                    <a:pt x="49170" y="1648182"/>
                  </a:cubicBezTo>
                  <a:cubicBezTo>
                    <a:pt x="65124" y="1721226"/>
                    <a:pt x="88226" y="1792705"/>
                    <a:pt x="119437" y="1861055"/>
                  </a:cubicBezTo>
                  <a:cubicBezTo>
                    <a:pt x="126847" y="1878267"/>
                    <a:pt x="135478" y="1895066"/>
                    <a:pt x="143672" y="1911947"/>
                  </a:cubicBezTo>
                  <a:cubicBezTo>
                    <a:pt x="152565" y="1928582"/>
                    <a:pt x="161021" y="1945381"/>
                    <a:pt x="170611" y="1961687"/>
                  </a:cubicBezTo>
                  <a:cubicBezTo>
                    <a:pt x="188919" y="1994626"/>
                    <a:pt x="209319" y="2026578"/>
                    <a:pt x="230330" y="2058118"/>
                  </a:cubicBezTo>
                  <a:cubicBezTo>
                    <a:pt x="251253" y="2089740"/>
                    <a:pt x="273658" y="2120539"/>
                    <a:pt x="296237" y="2151255"/>
                  </a:cubicBezTo>
                  <a:cubicBezTo>
                    <a:pt x="319165" y="2181725"/>
                    <a:pt x="342966" y="2211782"/>
                    <a:pt x="366853" y="2241757"/>
                  </a:cubicBezTo>
                  <a:cubicBezTo>
                    <a:pt x="414714" y="2301791"/>
                    <a:pt x="464756" y="2360588"/>
                    <a:pt x="513838" y="2420786"/>
                  </a:cubicBezTo>
                  <a:cubicBezTo>
                    <a:pt x="538509" y="2450761"/>
                    <a:pt x="563094" y="2480983"/>
                    <a:pt x="587330" y="2511534"/>
                  </a:cubicBezTo>
                  <a:cubicBezTo>
                    <a:pt x="611479" y="2541839"/>
                    <a:pt x="635453" y="2574038"/>
                    <a:pt x="658817" y="2603437"/>
                  </a:cubicBezTo>
                  <a:cubicBezTo>
                    <a:pt x="682008" y="2633577"/>
                    <a:pt x="706330" y="2662811"/>
                    <a:pt x="730305" y="2692210"/>
                  </a:cubicBezTo>
                  <a:cubicBezTo>
                    <a:pt x="754977" y="2721115"/>
                    <a:pt x="779474" y="2750019"/>
                    <a:pt x="805018" y="2777936"/>
                  </a:cubicBezTo>
                  <a:cubicBezTo>
                    <a:pt x="855757" y="2834098"/>
                    <a:pt x="908500" y="2888202"/>
                    <a:pt x="963424" y="2939588"/>
                  </a:cubicBezTo>
                  <a:cubicBezTo>
                    <a:pt x="1073444" y="3042113"/>
                    <a:pt x="1192183" y="3133604"/>
                    <a:pt x="1319204" y="3209447"/>
                  </a:cubicBezTo>
                  <a:cubicBezTo>
                    <a:pt x="1382846" y="3247164"/>
                    <a:pt x="1448143" y="3281751"/>
                    <a:pt x="1515882" y="3310902"/>
                  </a:cubicBezTo>
                  <a:cubicBezTo>
                    <a:pt x="1583184" y="3340877"/>
                    <a:pt x="1652666" y="3366159"/>
                    <a:pt x="1723456" y="3387570"/>
                  </a:cubicBezTo>
                  <a:cubicBezTo>
                    <a:pt x="1794246" y="3409063"/>
                    <a:pt x="1866431" y="3426439"/>
                    <a:pt x="1939662" y="3440520"/>
                  </a:cubicBezTo>
                  <a:cubicBezTo>
                    <a:pt x="2012981" y="3454355"/>
                    <a:pt x="2087519" y="3463825"/>
                    <a:pt x="2162581" y="3470167"/>
                  </a:cubicBezTo>
                  <a:cubicBezTo>
                    <a:pt x="2237643" y="3476589"/>
                    <a:pt x="2313489" y="3479390"/>
                    <a:pt x="2389597" y="3479472"/>
                  </a:cubicBezTo>
                  <a:cubicBezTo>
                    <a:pt x="2408602" y="3479472"/>
                    <a:pt x="2427869" y="3479801"/>
                    <a:pt x="2446002" y="3479059"/>
                  </a:cubicBezTo>
                  <a:lnTo>
                    <a:pt x="2473639" y="3478402"/>
                  </a:lnTo>
                  <a:lnTo>
                    <a:pt x="2501187" y="3477083"/>
                  </a:lnTo>
                  <a:cubicBezTo>
                    <a:pt x="2537890" y="3475519"/>
                    <a:pt x="2574418" y="3472060"/>
                    <a:pt x="2610685" y="3468025"/>
                  </a:cubicBezTo>
                  <a:cubicBezTo>
                    <a:pt x="2755926" y="3451226"/>
                    <a:pt x="2897244" y="3414415"/>
                    <a:pt x="3033071" y="3360230"/>
                  </a:cubicBezTo>
                  <a:cubicBezTo>
                    <a:pt x="3101158" y="3333383"/>
                    <a:pt x="3167589" y="3301514"/>
                    <a:pt x="3232974" y="3266681"/>
                  </a:cubicBezTo>
                  <a:cubicBezTo>
                    <a:pt x="3298446" y="3232011"/>
                    <a:pt x="3362697" y="3193554"/>
                    <a:pt x="3425990" y="3152873"/>
                  </a:cubicBezTo>
                  <a:cubicBezTo>
                    <a:pt x="3489282" y="3112110"/>
                    <a:pt x="3551529" y="3068712"/>
                    <a:pt x="3613601" y="3024078"/>
                  </a:cubicBezTo>
                  <a:cubicBezTo>
                    <a:pt x="3644549" y="3001762"/>
                    <a:pt x="3675411" y="2978868"/>
                    <a:pt x="3706185" y="2955893"/>
                  </a:cubicBezTo>
                  <a:lnTo>
                    <a:pt x="3799729" y="2885155"/>
                  </a:lnTo>
                  <a:cubicBezTo>
                    <a:pt x="3926402" y="2790205"/>
                    <a:pt x="4053597" y="2699374"/>
                    <a:pt x="4175561" y="2606072"/>
                  </a:cubicBezTo>
                  <a:cubicBezTo>
                    <a:pt x="4297526" y="2512852"/>
                    <a:pt x="4414084" y="2416833"/>
                    <a:pt x="4517132" y="2312331"/>
                  </a:cubicBezTo>
                  <a:cubicBezTo>
                    <a:pt x="4568480" y="2259956"/>
                    <a:pt x="4616604" y="2205689"/>
                    <a:pt x="4659758" y="2148703"/>
                  </a:cubicBezTo>
                  <a:cubicBezTo>
                    <a:pt x="4702650" y="2091634"/>
                    <a:pt x="4741184" y="2032096"/>
                    <a:pt x="4773178" y="1969674"/>
                  </a:cubicBezTo>
                  <a:cubicBezTo>
                    <a:pt x="4837865" y="1845080"/>
                    <a:pt x="4877446" y="1709038"/>
                    <a:pt x="4892092" y="1567562"/>
                  </a:cubicBezTo>
                  <a:cubicBezTo>
                    <a:pt x="4895666" y="1532233"/>
                    <a:pt x="4897845" y="1496576"/>
                    <a:pt x="4898804" y="1460754"/>
                  </a:cubicBezTo>
                  <a:cubicBezTo>
                    <a:pt x="4899066" y="1442884"/>
                    <a:pt x="4899414" y="1425015"/>
                    <a:pt x="4899153" y="1406239"/>
                  </a:cubicBezTo>
                  <a:cubicBezTo>
                    <a:pt x="4898979" y="1387711"/>
                    <a:pt x="4899066" y="1369263"/>
                    <a:pt x="4898456" y="1350735"/>
                  </a:cubicBezTo>
                  <a:cubicBezTo>
                    <a:pt x="4896974" y="1276703"/>
                    <a:pt x="4893226" y="1202753"/>
                    <a:pt x="4886774" y="1128886"/>
                  </a:cubicBezTo>
                  <a:cubicBezTo>
                    <a:pt x="4873610" y="981232"/>
                    <a:pt x="4851030" y="833991"/>
                    <a:pt x="4815896" y="689221"/>
                  </a:cubicBezTo>
                  <a:cubicBezTo>
                    <a:pt x="4780676" y="544533"/>
                    <a:pt x="4733860" y="402068"/>
                    <a:pt x="4673183" y="264874"/>
                  </a:cubicBezTo>
                  <a:cubicBezTo>
                    <a:pt x="4658101" y="230533"/>
                    <a:pt x="4642147" y="196605"/>
                    <a:pt x="4625496" y="162925"/>
                  </a:cubicBezTo>
                  <a:cubicBezTo>
                    <a:pt x="4608583" y="129326"/>
                    <a:pt x="4590885" y="96222"/>
                    <a:pt x="4572490" y="63364"/>
                  </a:cubicBezTo>
                  <a:lnTo>
                    <a:pt x="4532299" y="0"/>
                  </a:lnTo>
                  <a:lnTo>
                    <a:pt x="4626680" y="0"/>
                  </a:lnTo>
                  <a:lnTo>
                    <a:pt x="4643978" y="26636"/>
                  </a:lnTo>
                  <a:cubicBezTo>
                    <a:pt x="4663594" y="60152"/>
                    <a:pt x="4682598" y="94080"/>
                    <a:pt x="4700644" y="128338"/>
                  </a:cubicBezTo>
                  <a:cubicBezTo>
                    <a:pt x="4718866" y="162595"/>
                    <a:pt x="4736476" y="197100"/>
                    <a:pt x="4753214" y="232016"/>
                  </a:cubicBezTo>
                  <a:cubicBezTo>
                    <a:pt x="4820082" y="371681"/>
                    <a:pt x="4875964" y="515957"/>
                    <a:pt x="4921297" y="663363"/>
                  </a:cubicBezTo>
                  <a:cubicBezTo>
                    <a:pt x="4966630" y="810687"/>
                    <a:pt x="5002460" y="960975"/>
                    <a:pt x="5027482" y="1112991"/>
                  </a:cubicBezTo>
                  <a:cubicBezTo>
                    <a:pt x="5040123" y="1189000"/>
                    <a:pt x="5050323" y="1265421"/>
                    <a:pt x="5058082" y="1342088"/>
                  </a:cubicBezTo>
                  <a:cubicBezTo>
                    <a:pt x="5060261" y="1361276"/>
                    <a:pt x="5061743" y="1380464"/>
                    <a:pt x="5063486" y="1399651"/>
                  </a:cubicBezTo>
                  <a:cubicBezTo>
                    <a:pt x="5065318" y="1418591"/>
                    <a:pt x="5066625" y="1438437"/>
                    <a:pt x="5067846" y="1458284"/>
                  </a:cubicBezTo>
                  <a:cubicBezTo>
                    <a:pt x="5069851" y="1497894"/>
                    <a:pt x="5070461" y="1537751"/>
                    <a:pt x="5069414" y="1577772"/>
                  </a:cubicBezTo>
                  <a:cubicBezTo>
                    <a:pt x="5067060" y="1657734"/>
                    <a:pt x="5057820" y="1738272"/>
                    <a:pt x="5040732" y="1817822"/>
                  </a:cubicBezTo>
                  <a:cubicBezTo>
                    <a:pt x="5023123" y="1897289"/>
                    <a:pt x="4997578" y="1975686"/>
                    <a:pt x="4964102" y="2050871"/>
                  </a:cubicBezTo>
                  <a:cubicBezTo>
                    <a:pt x="4897409" y="2201736"/>
                    <a:pt x="4799942" y="2338271"/>
                    <a:pt x="4689486" y="2458008"/>
                  </a:cubicBezTo>
                  <a:cubicBezTo>
                    <a:pt x="4579116" y="2578485"/>
                    <a:pt x="4456716" y="2684139"/>
                    <a:pt x="4333792" y="2784606"/>
                  </a:cubicBezTo>
                  <a:cubicBezTo>
                    <a:pt x="4210520" y="2884908"/>
                    <a:pt x="4085853" y="2979775"/>
                    <a:pt x="3965197" y="3076041"/>
                  </a:cubicBezTo>
                  <a:lnTo>
                    <a:pt x="3873745" y="3149167"/>
                  </a:lnTo>
                  <a:cubicBezTo>
                    <a:pt x="3842621" y="3173790"/>
                    <a:pt x="3811325" y="3198413"/>
                    <a:pt x="3779416" y="3222705"/>
                  </a:cubicBezTo>
                  <a:cubicBezTo>
                    <a:pt x="3715863" y="3271374"/>
                    <a:pt x="3650652" y="3319055"/>
                    <a:pt x="3582739" y="3364594"/>
                  </a:cubicBezTo>
                  <a:cubicBezTo>
                    <a:pt x="3514913" y="3410051"/>
                    <a:pt x="3445170" y="3454190"/>
                    <a:pt x="3371851" y="3494377"/>
                  </a:cubicBezTo>
                  <a:cubicBezTo>
                    <a:pt x="3298533" y="3534481"/>
                    <a:pt x="3222687" y="3571703"/>
                    <a:pt x="3143615" y="3603819"/>
                  </a:cubicBezTo>
                  <a:cubicBezTo>
                    <a:pt x="2985994" y="3668876"/>
                    <a:pt x="2815732" y="3712356"/>
                    <a:pt x="2643552" y="3730555"/>
                  </a:cubicBezTo>
                  <a:cubicBezTo>
                    <a:pt x="2600484" y="3734838"/>
                    <a:pt x="2557331" y="3738297"/>
                    <a:pt x="2514264" y="3739696"/>
                  </a:cubicBezTo>
                  <a:lnTo>
                    <a:pt x="2481920" y="3740849"/>
                  </a:lnTo>
                  <a:lnTo>
                    <a:pt x="2449664" y="3741014"/>
                  </a:lnTo>
                  <a:cubicBezTo>
                    <a:pt x="2427869" y="3741343"/>
                    <a:pt x="2407207" y="3740685"/>
                    <a:pt x="2386284" y="3740273"/>
                  </a:cubicBezTo>
                  <a:cubicBezTo>
                    <a:pt x="2344525" y="3739779"/>
                    <a:pt x="2302505" y="3737391"/>
                    <a:pt x="2260658" y="3735331"/>
                  </a:cubicBezTo>
                  <a:cubicBezTo>
                    <a:pt x="2218725" y="3732038"/>
                    <a:pt x="2176791" y="3728991"/>
                    <a:pt x="2134945" y="3723967"/>
                  </a:cubicBezTo>
                  <a:cubicBezTo>
                    <a:pt x="2051165" y="3714497"/>
                    <a:pt x="1967473" y="3701568"/>
                    <a:pt x="1884564" y="3683451"/>
                  </a:cubicBezTo>
                  <a:cubicBezTo>
                    <a:pt x="1801657" y="3665335"/>
                    <a:pt x="1719708" y="3642029"/>
                    <a:pt x="1639764" y="3613537"/>
                  </a:cubicBezTo>
                  <a:cubicBezTo>
                    <a:pt x="1559820" y="3584961"/>
                    <a:pt x="1481969" y="3550869"/>
                    <a:pt x="1407081" y="3512164"/>
                  </a:cubicBezTo>
                  <a:cubicBezTo>
                    <a:pt x="1332455" y="3472884"/>
                    <a:pt x="1260794" y="3428992"/>
                    <a:pt x="1193491" y="3380240"/>
                  </a:cubicBezTo>
                  <a:cubicBezTo>
                    <a:pt x="1058362" y="3283233"/>
                    <a:pt x="939973" y="3169508"/>
                    <a:pt x="836141" y="3047878"/>
                  </a:cubicBezTo>
                  <a:cubicBezTo>
                    <a:pt x="784444" y="2986774"/>
                    <a:pt x="736321" y="2923695"/>
                    <a:pt x="690812" y="2859461"/>
                  </a:cubicBezTo>
                  <a:cubicBezTo>
                    <a:pt x="645217" y="2795229"/>
                    <a:pt x="602674" y="2729596"/>
                    <a:pt x="562397" y="2662976"/>
                  </a:cubicBezTo>
                  <a:cubicBezTo>
                    <a:pt x="541823" y="2629295"/>
                    <a:pt x="522992" y="2597755"/>
                    <a:pt x="502504" y="2565474"/>
                  </a:cubicBezTo>
                  <a:cubicBezTo>
                    <a:pt x="482192" y="2533440"/>
                    <a:pt x="461530" y="2501406"/>
                    <a:pt x="440258" y="2469619"/>
                  </a:cubicBezTo>
                  <a:lnTo>
                    <a:pt x="310360" y="2278732"/>
                  </a:lnTo>
                  <a:cubicBezTo>
                    <a:pt x="288826" y="2246616"/>
                    <a:pt x="267555" y="2214335"/>
                    <a:pt x="246806" y="2181642"/>
                  </a:cubicBezTo>
                  <a:cubicBezTo>
                    <a:pt x="226057" y="2148949"/>
                    <a:pt x="205483" y="2116174"/>
                    <a:pt x="186303" y="2082411"/>
                  </a:cubicBezTo>
                  <a:cubicBezTo>
                    <a:pt x="147857" y="2015213"/>
                    <a:pt x="112550" y="1946041"/>
                    <a:pt x="84390" y="1874231"/>
                  </a:cubicBezTo>
                  <a:cubicBezTo>
                    <a:pt x="55708" y="1802669"/>
                    <a:pt x="34436" y="1728473"/>
                    <a:pt x="20139" y="1653288"/>
                  </a:cubicBezTo>
                  <a:cubicBezTo>
                    <a:pt x="6452" y="1578103"/>
                    <a:pt x="0" y="1501764"/>
                    <a:pt x="0" y="1425590"/>
                  </a:cubicBezTo>
                  <a:cubicBezTo>
                    <a:pt x="1133" y="1121885"/>
                    <a:pt x="63293" y="819004"/>
                    <a:pt x="179939" y="533498"/>
                  </a:cubicBezTo>
                  <a:cubicBezTo>
                    <a:pt x="209232" y="462183"/>
                    <a:pt x="240965" y="391527"/>
                    <a:pt x="276709" y="322519"/>
                  </a:cubicBezTo>
                  <a:cubicBezTo>
                    <a:pt x="311930" y="253262"/>
                    <a:pt x="350725" y="185489"/>
                    <a:pt x="392571" y="11928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0">
              <a:extLst>
                <a:ext uri="{FF2B5EF4-FFF2-40B4-BE49-F238E27FC236}">
                  <a16:creationId xmlns:a16="http://schemas.microsoft.com/office/drawing/2014/main" id="{58E67742-7BE5-458C-BC8D-9EE8557636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62838" y="1"/>
              <a:ext cx="4960548" cy="3526297"/>
            </a:xfrm>
            <a:custGeom>
              <a:avLst/>
              <a:gdLst>
                <a:gd name="connsiteX0" fmla="*/ 542883 w 4960548"/>
                <a:gd name="connsiteY0" fmla="*/ 0 h 3526297"/>
                <a:gd name="connsiteX1" fmla="*/ 826658 w 4960548"/>
                <a:gd name="connsiteY1" fmla="*/ 0 h 3526297"/>
                <a:gd name="connsiteX2" fmla="*/ 730698 w 4960548"/>
                <a:gd name="connsiteY2" fmla="*/ 89329 h 3526297"/>
                <a:gd name="connsiteX3" fmla="*/ 590295 w 4960548"/>
                <a:gd name="connsiteY3" fmla="*/ 244485 h 3526297"/>
                <a:gd name="connsiteX4" fmla="*/ 357524 w 4960548"/>
                <a:gd name="connsiteY4" fmla="*/ 587307 h 3526297"/>
                <a:gd name="connsiteX5" fmla="*/ 199554 w 4960548"/>
                <a:gd name="connsiteY5" fmla="*/ 966280 h 3526297"/>
                <a:gd name="connsiteX6" fmla="*/ 142104 w 4960548"/>
                <a:gd name="connsiteY6" fmla="*/ 1370286 h 3526297"/>
                <a:gd name="connsiteX7" fmla="*/ 166339 w 4960548"/>
                <a:gd name="connsiteY7" fmla="*/ 1568090 h 3526297"/>
                <a:gd name="connsiteX8" fmla="*/ 237914 w 4960548"/>
                <a:gd name="connsiteY8" fmla="*/ 1753129 h 3526297"/>
                <a:gd name="connsiteX9" fmla="*/ 287868 w 4960548"/>
                <a:gd name="connsiteY9" fmla="*/ 1840255 h 3526297"/>
                <a:gd name="connsiteX10" fmla="*/ 345232 w 4960548"/>
                <a:gd name="connsiteY10" fmla="*/ 1924581 h 3526297"/>
                <a:gd name="connsiteX11" fmla="*/ 477745 w 4960548"/>
                <a:gd name="connsiteY11" fmla="*/ 2087551 h 3526297"/>
                <a:gd name="connsiteX12" fmla="*/ 621156 w 4960548"/>
                <a:gd name="connsiteY12" fmla="*/ 2251756 h 3526297"/>
                <a:gd name="connsiteX13" fmla="*/ 692469 w 4960548"/>
                <a:gd name="connsiteY13" fmla="*/ 2337482 h 3526297"/>
                <a:gd name="connsiteX14" fmla="*/ 726731 w 4960548"/>
                <a:gd name="connsiteY14" fmla="*/ 2379562 h 3526297"/>
                <a:gd name="connsiteX15" fmla="*/ 760295 w 4960548"/>
                <a:gd name="connsiteY15" fmla="*/ 2419831 h 3526297"/>
                <a:gd name="connsiteX16" fmla="*/ 1048685 w 4960548"/>
                <a:gd name="connsiteY16" fmla="*/ 2717443 h 3526297"/>
                <a:gd name="connsiteX17" fmla="*/ 1202035 w 4960548"/>
                <a:gd name="connsiteY17" fmla="*/ 2851344 h 3526297"/>
                <a:gd name="connsiteX18" fmla="*/ 1362620 w 4960548"/>
                <a:gd name="connsiteY18" fmla="*/ 2974785 h 3526297"/>
                <a:gd name="connsiteX19" fmla="*/ 1721364 w 4960548"/>
                <a:gd name="connsiteY19" fmla="*/ 3170036 h 3526297"/>
                <a:gd name="connsiteX20" fmla="*/ 1922052 w 4960548"/>
                <a:gd name="connsiteY20" fmla="*/ 3225210 h 3526297"/>
                <a:gd name="connsiteX21" fmla="*/ 1973488 w 4960548"/>
                <a:gd name="connsiteY21" fmla="*/ 3234928 h 3526297"/>
                <a:gd name="connsiteX22" fmla="*/ 2025360 w 4960548"/>
                <a:gd name="connsiteY22" fmla="*/ 3243080 h 3526297"/>
                <a:gd name="connsiteX23" fmla="*/ 2130063 w 4960548"/>
                <a:gd name="connsiteY23" fmla="*/ 3254774 h 3526297"/>
                <a:gd name="connsiteX24" fmla="*/ 2182719 w 4960548"/>
                <a:gd name="connsiteY24" fmla="*/ 3258562 h 3526297"/>
                <a:gd name="connsiteX25" fmla="*/ 2235551 w 4960548"/>
                <a:gd name="connsiteY25" fmla="*/ 3261197 h 3526297"/>
                <a:gd name="connsiteX26" fmla="*/ 2288556 w 4960548"/>
                <a:gd name="connsiteY26" fmla="*/ 3262350 h 3526297"/>
                <a:gd name="connsiteX27" fmla="*/ 2341648 w 4960548"/>
                <a:gd name="connsiteY27" fmla="*/ 3262103 h 3526297"/>
                <a:gd name="connsiteX28" fmla="*/ 2368238 w 4960548"/>
                <a:gd name="connsiteY28" fmla="*/ 3261856 h 3526297"/>
                <a:gd name="connsiteX29" fmla="*/ 2393869 w 4960548"/>
                <a:gd name="connsiteY29" fmla="*/ 3260785 h 3526297"/>
                <a:gd name="connsiteX30" fmla="*/ 2419413 w 4960548"/>
                <a:gd name="connsiteY30" fmla="*/ 3259550 h 3526297"/>
                <a:gd name="connsiteX31" fmla="*/ 2444869 w 4960548"/>
                <a:gd name="connsiteY31" fmla="*/ 3257574 h 3526297"/>
                <a:gd name="connsiteX32" fmla="*/ 2545824 w 4960548"/>
                <a:gd name="connsiteY32" fmla="*/ 3245798 h 3526297"/>
                <a:gd name="connsiteX33" fmla="*/ 2930373 w 4960548"/>
                <a:gd name="connsiteY33" fmla="*/ 3126555 h 3526297"/>
                <a:gd name="connsiteX34" fmla="*/ 3285631 w 4960548"/>
                <a:gd name="connsiteY34" fmla="*/ 2917552 h 3526297"/>
                <a:gd name="connsiteX35" fmla="*/ 3371764 w 4960548"/>
                <a:gd name="connsiteY35" fmla="*/ 2856120 h 3526297"/>
                <a:gd name="connsiteX36" fmla="*/ 3457898 w 4960548"/>
                <a:gd name="connsiteY36" fmla="*/ 2792628 h 3526297"/>
                <a:gd name="connsiteX37" fmla="*/ 3632344 w 4960548"/>
                <a:gd name="connsiteY37" fmla="*/ 2660869 h 3526297"/>
                <a:gd name="connsiteX38" fmla="*/ 3990915 w 4960548"/>
                <a:gd name="connsiteY38" fmla="*/ 2405832 h 3526297"/>
                <a:gd name="connsiteX39" fmla="*/ 4324988 w 4960548"/>
                <a:gd name="connsiteY39" fmla="*/ 2152196 h 3526297"/>
                <a:gd name="connsiteX40" fmla="*/ 4592106 w 4960548"/>
                <a:gd name="connsiteY40" fmla="*/ 1861501 h 3526297"/>
                <a:gd name="connsiteX41" fmla="*/ 4683122 w 4960548"/>
                <a:gd name="connsiteY41" fmla="*/ 1692521 h 3526297"/>
                <a:gd name="connsiteX42" fmla="*/ 4738568 w 4960548"/>
                <a:gd name="connsiteY42" fmla="*/ 1507893 h 3526297"/>
                <a:gd name="connsiteX43" fmla="*/ 4753912 w 4960548"/>
                <a:gd name="connsiteY43" fmla="*/ 1411050 h 3526297"/>
                <a:gd name="connsiteX44" fmla="*/ 4756440 w 4960548"/>
                <a:gd name="connsiteY44" fmla="*/ 1386509 h 3526297"/>
                <a:gd name="connsiteX45" fmla="*/ 4758358 w 4960548"/>
                <a:gd name="connsiteY45" fmla="*/ 1361475 h 3526297"/>
                <a:gd name="connsiteX46" fmla="*/ 4761148 w 4960548"/>
                <a:gd name="connsiteY46" fmla="*/ 1309759 h 3526297"/>
                <a:gd name="connsiteX47" fmla="*/ 4756354 w 4960548"/>
                <a:gd name="connsiteY47" fmla="*/ 1102980 h 3526297"/>
                <a:gd name="connsiteX48" fmla="*/ 4725578 w 4960548"/>
                <a:gd name="connsiteY48" fmla="*/ 898753 h 3526297"/>
                <a:gd name="connsiteX49" fmla="*/ 4673358 w 4960548"/>
                <a:gd name="connsiteY49" fmla="*/ 699384 h 3526297"/>
                <a:gd name="connsiteX50" fmla="*/ 4538491 w 4960548"/>
                <a:gd name="connsiteY50" fmla="*/ 312754 h 3526297"/>
                <a:gd name="connsiteX51" fmla="*/ 4446604 w 4960548"/>
                <a:gd name="connsiteY51" fmla="*/ 129196 h 3526297"/>
                <a:gd name="connsiteX52" fmla="*/ 4419840 w 4960548"/>
                <a:gd name="connsiteY52" fmla="*/ 85222 h 3526297"/>
                <a:gd name="connsiteX53" fmla="*/ 4391680 w 4960548"/>
                <a:gd name="connsiteY53" fmla="*/ 42071 h 3526297"/>
                <a:gd name="connsiteX54" fmla="*/ 4361930 w 4960548"/>
                <a:gd name="connsiteY54" fmla="*/ 0 h 3526297"/>
                <a:gd name="connsiteX55" fmla="*/ 4588871 w 4960548"/>
                <a:gd name="connsiteY55" fmla="*/ 0 h 3526297"/>
                <a:gd name="connsiteX56" fmla="*/ 4613640 w 4960548"/>
                <a:gd name="connsiteY56" fmla="*/ 38859 h 3526297"/>
                <a:gd name="connsiteX57" fmla="*/ 4724445 w 4960548"/>
                <a:gd name="connsiteY57" fmla="*/ 234687 h 3526297"/>
                <a:gd name="connsiteX58" fmla="*/ 4876138 w 4960548"/>
                <a:gd name="connsiteY58" fmla="*/ 653022 h 3526297"/>
                <a:gd name="connsiteX59" fmla="*/ 4911707 w 4960548"/>
                <a:gd name="connsiteY59" fmla="*/ 870671 h 3526297"/>
                <a:gd name="connsiteX60" fmla="*/ 4934810 w 4960548"/>
                <a:gd name="connsiteY60" fmla="*/ 1088487 h 3526297"/>
                <a:gd name="connsiteX61" fmla="*/ 4953206 w 4960548"/>
                <a:gd name="connsiteY61" fmla="*/ 1306301 h 3526297"/>
                <a:gd name="connsiteX62" fmla="*/ 4956954 w 4960548"/>
                <a:gd name="connsiteY62" fmla="*/ 1360899 h 3526297"/>
                <a:gd name="connsiteX63" fmla="*/ 4958610 w 4960548"/>
                <a:gd name="connsiteY63" fmla="*/ 1388980 h 3526297"/>
                <a:gd name="connsiteX64" fmla="*/ 4959830 w 4960548"/>
                <a:gd name="connsiteY64" fmla="*/ 1417555 h 3526297"/>
                <a:gd name="connsiteX65" fmla="*/ 4958174 w 4960548"/>
                <a:gd name="connsiteY65" fmla="*/ 1532680 h 3526297"/>
                <a:gd name="connsiteX66" fmla="*/ 4834030 w 4960548"/>
                <a:gd name="connsiteY66" fmla="*/ 1984861 h 3526297"/>
                <a:gd name="connsiteX67" fmla="*/ 4558106 w 4960548"/>
                <a:gd name="connsiteY67" fmla="*/ 2368857 h 3526297"/>
                <a:gd name="connsiteX68" fmla="*/ 4389936 w 4960548"/>
                <a:gd name="connsiteY68" fmla="*/ 2528945 h 3526297"/>
                <a:gd name="connsiteX69" fmla="*/ 4214618 w 4960548"/>
                <a:gd name="connsiteY69" fmla="*/ 2674457 h 3526297"/>
                <a:gd name="connsiteX70" fmla="*/ 3858489 w 4960548"/>
                <a:gd name="connsiteY70" fmla="*/ 2936658 h 3526297"/>
                <a:gd name="connsiteX71" fmla="*/ 3768868 w 4960548"/>
                <a:gd name="connsiteY71" fmla="*/ 3000643 h 3526297"/>
                <a:gd name="connsiteX72" fmla="*/ 3676806 w 4960548"/>
                <a:gd name="connsiteY72" fmla="*/ 3065040 h 3526297"/>
                <a:gd name="connsiteX73" fmla="*/ 3582477 w 4960548"/>
                <a:gd name="connsiteY73" fmla="*/ 3128614 h 3526297"/>
                <a:gd name="connsiteX74" fmla="*/ 3485185 w 4960548"/>
                <a:gd name="connsiteY74" fmla="*/ 3190377 h 3526297"/>
                <a:gd name="connsiteX75" fmla="*/ 3280923 w 4960548"/>
                <a:gd name="connsiteY75" fmla="*/ 3306325 h 3526297"/>
                <a:gd name="connsiteX76" fmla="*/ 3061230 w 4960548"/>
                <a:gd name="connsiteY76" fmla="*/ 3404897 h 3526297"/>
                <a:gd name="connsiteX77" fmla="*/ 2583137 w 4960548"/>
                <a:gd name="connsiteY77" fmla="*/ 3518292 h 3526297"/>
                <a:gd name="connsiteX78" fmla="*/ 2460038 w 4960548"/>
                <a:gd name="connsiteY78" fmla="*/ 3525622 h 3526297"/>
                <a:gd name="connsiteX79" fmla="*/ 2429264 w 4960548"/>
                <a:gd name="connsiteY79" fmla="*/ 3526280 h 3526297"/>
                <a:gd name="connsiteX80" fmla="*/ 2398576 w 4960548"/>
                <a:gd name="connsiteY80" fmla="*/ 3526116 h 3526297"/>
                <a:gd name="connsiteX81" fmla="*/ 2367977 w 4960548"/>
                <a:gd name="connsiteY81" fmla="*/ 3525786 h 3526297"/>
                <a:gd name="connsiteX82" fmla="*/ 2338249 w 4960548"/>
                <a:gd name="connsiteY82" fmla="*/ 3524716 h 3526297"/>
                <a:gd name="connsiteX83" fmla="*/ 2100770 w 4960548"/>
                <a:gd name="connsiteY83" fmla="*/ 3506845 h 3526297"/>
                <a:gd name="connsiteX84" fmla="*/ 1864776 w 4960548"/>
                <a:gd name="connsiteY84" fmla="*/ 3467483 h 3526297"/>
                <a:gd name="connsiteX85" fmla="*/ 1632964 w 4960548"/>
                <a:gd name="connsiteY85" fmla="*/ 3405803 h 3526297"/>
                <a:gd name="connsiteX86" fmla="*/ 1189219 w 4960548"/>
                <a:gd name="connsiteY86" fmla="*/ 3220352 h 3526297"/>
                <a:gd name="connsiteX87" fmla="*/ 815305 w 4960548"/>
                <a:gd name="connsiteY87" fmla="*/ 2931634 h 3526297"/>
                <a:gd name="connsiteX88" fmla="*/ 663699 w 4960548"/>
                <a:gd name="connsiteY88" fmla="*/ 2757877 h 3526297"/>
                <a:gd name="connsiteX89" fmla="*/ 531274 w 4960548"/>
                <a:gd name="connsiteY89" fmla="*/ 2573907 h 3526297"/>
                <a:gd name="connsiteX90" fmla="*/ 500325 w 4960548"/>
                <a:gd name="connsiteY90" fmla="*/ 2527051 h 3526297"/>
                <a:gd name="connsiteX91" fmla="*/ 470771 w 4960548"/>
                <a:gd name="connsiteY91" fmla="*/ 2481594 h 3526297"/>
                <a:gd name="connsiteX92" fmla="*/ 412448 w 4960548"/>
                <a:gd name="connsiteY92" fmla="*/ 2393479 h 3526297"/>
                <a:gd name="connsiteX93" fmla="*/ 291616 w 4960548"/>
                <a:gd name="connsiteY93" fmla="*/ 2213464 h 3526297"/>
                <a:gd name="connsiteX94" fmla="*/ 173662 w 4960548"/>
                <a:gd name="connsiteY94" fmla="*/ 2023154 h 3526297"/>
                <a:gd name="connsiteX95" fmla="*/ 120483 w 4960548"/>
                <a:gd name="connsiteY95" fmla="*/ 1922276 h 3526297"/>
                <a:gd name="connsiteX96" fmla="*/ 75324 w 4960548"/>
                <a:gd name="connsiteY96" fmla="*/ 1816703 h 3526297"/>
                <a:gd name="connsiteX97" fmla="*/ 40713 w 4960548"/>
                <a:gd name="connsiteY97" fmla="*/ 1707179 h 3526297"/>
                <a:gd name="connsiteX98" fmla="*/ 27811 w 4960548"/>
                <a:gd name="connsiteY98" fmla="*/ 1651346 h 3526297"/>
                <a:gd name="connsiteX99" fmla="*/ 22144 w 4960548"/>
                <a:gd name="connsiteY99" fmla="*/ 1623346 h 3526297"/>
                <a:gd name="connsiteX100" fmla="*/ 17436 w 4960548"/>
                <a:gd name="connsiteY100" fmla="*/ 1595265 h 3526297"/>
                <a:gd name="connsiteX101" fmla="*/ 0 w 4960548"/>
                <a:gd name="connsiteY101" fmla="*/ 1370286 h 3526297"/>
                <a:gd name="connsiteX102" fmla="*/ 48385 w 4960548"/>
                <a:gd name="connsiteY102" fmla="*/ 931939 h 3526297"/>
                <a:gd name="connsiteX103" fmla="*/ 193801 w 4960548"/>
                <a:gd name="connsiteY103" fmla="*/ 511957 h 3526297"/>
                <a:gd name="connsiteX104" fmla="*/ 431660 w 4960548"/>
                <a:gd name="connsiteY104" fmla="*/ 131379 h 3526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4960548" h="3526297">
                  <a:moveTo>
                    <a:pt x="542883" y="0"/>
                  </a:moveTo>
                  <a:lnTo>
                    <a:pt x="826658" y="0"/>
                  </a:lnTo>
                  <a:lnTo>
                    <a:pt x="730698" y="89329"/>
                  </a:lnTo>
                  <a:cubicBezTo>
                    <a:pt x="681528" y="139120"/>
                    <a:pt x="634626" y="190876"/>
                    <a:pt x="590295" y="244485"/>
                  </a:cubicBezTo>
                  <a:cubicBezTo>
                    <a:pt x="501458" y="351540"/>
                    <a:pt x="423083" y="466336"/>
                    <a:pt x="357524" y="587307"/>
                  </a:cubicBezTo>
                  <a:cubicBezTo>
                    <a:pt x="291965" y="708196"/>
                    <a:pt x="237391" y="834767"/>
                    <a:pt x="199554" y="966280"/>
                  </a:cubicBezTo>
                  <a:cubicBezTo>
                    <a:pt x="161632" y="1097463"/>
                    <a:pt x="142016" y="1233833"/>
                    <a:pt x="142104" y="1370286"/>
                  </a:cubicBezTo>
                  <a:cubicBezTo>
                    <a:pt x="142888" y="1437319"/>
                    <a:pt x="149862" y="1503858"/>
                    <a:pt x="166339" y="1568090"/>
                  </a:cubicBezTo>
                  <a:cubicBezTo>
                    <a:pt x="182555" y="1632405"/>
                    <a:pt x="207750" y="1693921"/>
                    <a:pt x="237914" y="1753129"/>
                  </a:cubicBezTo>
                  <a:cubicBezTo>
                    <a:pt x="253170" y="1782693"/>
                    <a:pt x="270084" y="1811680"/>
                    <a:pt x="287868" y="1840255"/>
                  </a:cubicBezTo>
                  <a:cubicBezTo>
                    <a:pt x="305914" y="1868748"/>
                    <a:pt x="325181" y="1896830"/>
                    <a:pt x="345232" y="1924581"/>
                  </a:cubicBezTo>
                  <a:cubicBezTo>
                    <a:pt x="385858" y="1979920"/>
                    <a:pt x="431017" y="2033612"/>
                    <a:pt x="477745" y="2087551"/>
                  </a:cubicBezTo>
                  <a:cubicBezTo>
                    <a:pt x="524474" y="2141573"/>
                    <a:pt x="573294" y="2195594"/>
                    <a:pt x="621156" y="2251756"/>
                  </a:cubicBezTo>
                  <a:cubicBezTo>
                    <a:pt x="645130" y="2279755"/>
                    <a:pt x="668843" y="2308412"/>
                    <a:pt x="692469" y="2337482"/>
                  </a:cubicBezTo>
                  <a:lnTo>
                    <a:pt x="726731" y="2379562"/>
                  </a:lnTo>
                  <a:cubicBezTo>
                    <a:pt x="737977" y="2392986"/>
                    <a:pt x="748700" y="2406738"/>
                    <a:pt x="760295" y="2419831"/>
                  </a:cubicBezTo>
                  <a:cubicBezTo>
                    <a:pt x="850788" y="2526392"/>
                    <a:pt x="948952" y="2624470"/>
                    <a:pt x="1048685" y="2717443"/>
                  </a:cubicBezTo>
                  <a:cubicBezTo>
                    <a:pt x="1098814" y="2763724"/>
                    <a:pt x="1149814" y="2808439"/>
                    <a:pt x="1202035" y="2851344"/>
                  </a:cubicBezTo>
                  <a:cubicBezTo>
                    <a:pt x="1254256" y="2894248"/>
                    <a:pt x="1307435" y="2935752"/>
                    <a:pt x="1362620" y="2974785"/>
                  </a:cubicBezTo>
                  <a:cubicBezTo>
                    <a:pt x="1472554" y="3053017"/>
                    <a:pt x="1591118" y="3122932"/>
                    <a:pt x="1721364" y="3170036"/>
                  </a:cubicBezTo>
                  <a:cubicBezTo>
                    <a:pt x="1786314" y="3193588"/>
                    <a:pt x="1853617" y="3211622"/>
                    <a:pt x="1922052" y="3225210"/>
                  </a:cubicBezTo>
                  <a:cubicBezTo>
                    <a:pt x="1939227" y="3228422"/>
                    <a:pt x="1956227" y="3232128"/>
                    <a:pt x="1973488" y="3234928"/>
                  </a:cubicBezTo>
                  <a:lnTo>
                    <a:pt x="2025360" y="3243080"/>
                  </a:lnTo>
                  <a:cubicBezTo>
                    <a:pt x="2060145" y="3247445"/>
                    <a:pt x="2094930" y="3252056"/>
                    <a:pt x="2130063" y="3254774"/>
                  </a:cubicBezTo>
                  <a:cubicBezTo>
                    <a:pt x="2147587" y="3256338"/>
                    <a:pt x="2165109" y="3257821"/>
                    <a:pt x="2182719" y="3258562"/>
                  </a:cubicBezTo>
                  <a:cubicBezTo>
                    <a:pt x="2200330" y="3259385"/>
                    <a:pt x="2217853" y="3260703"/>
                    <a:pt x="2235551" y="3261197"/>
                  </a:cubicBezTo>
                  <a:lnTo>
                    <a:pt x="2288556" y="3262350"/>
                  </a:lnTo>
                  <a:cubicBezTo>
                    <a:pt x="2306166" y="3262761"/>
                    <a:pt x="2323951" y="3262185"/>
                    <a:pt x="2341648" y="3262103"/>
                  </a:cubicBezTo>
                  <a:lnTo>
                    <a:pt x="2368238" y="3261856"/>
                  </a:lnTo>
                  <a:cubicBezTo>
                    <a:pt x="2376869" y="3261609"/>
                    <a:pt x="2385325" y="3261115"/>
                    <a:pt x="2393869" y="3260785"/>
                  </a:cubicBezTo>
                  <a:cubicBezTo>
                    <a:pt x="2402412" y="3260373"/>
                    <a:pt x="2410956" y="3260127"/>
                    <a:pt x="2419413" y="3259550"/>
                  </a:cubicBezTo>
                  <a:lnTo>
                    <a:pt x="2444869" y="3257574"/>
                  </a:lnTo>
                  <a:cubicBezTo>
                    <a:pt x="2478782" y="3255021"/>
                    <a:pt x="2512434" y="3250739"/>
                    <a:pt x="2545824" y="3245798"/>
                  </a:cubicBezTo>
                  <a:cubicBezTo>
                    <a:pt x="2679470" y="3224881"/>
                    <a:pt x="2807973" y="3183954"/>
                    <a:pt x="2930373" y="3126555"/>
                  </a:cubicBezTo>
                  <a:cubicBezTo>
                    <a:pt x="3053210" y="3069817"/>
                    <a:pt x="3170118" y="2997184"/>
                    <a:pt x="3285631" y="2917552"/>
                  </a:cubicBezTo>
                  <a:cubicBezTo>
                    <a:pt x="3314487" y="2897706"/>
                    <a:pt x="3343169" y="2876954"/>
                    <a:pt x="3371764" y="2856120"/>
                  </a:cubicBezTo>
                  <a:cubicBezTo>
                    <a:pt x="3400534" y="2835285"/>
                    <a:pt x="3429216" y="2814121"/>
                    <a:pt x="3457898" y="2792628"/>
                  </a:cubicBezTo>
                  <a:lnTo>
                    <a:pt x="3632344" y="2660869"/>
                  </a:lnTo>
                  <a:cubicBezTo>
                    <a:pt x="3752043" y="2571190"/>
                    <a:pt x="3872873" y="2487687"/>
                    <a:pt x="3990915" y="2405832"/>
                  </a:cubicBezTo>
                  <a:cubicBezTo>
                    <a:pt x="4108869" y="2323976"/>
                    <a:pt x="4222378" y="2241297"/>
                    <a:pt x="4324988" y="2152196"/>
                  </a:cubicBezTo>
                  <a:cubicBezTo>
                    <a:pt x="4427598" y="2063258"/>
                    <a:pt x="4520270" y="1968474"/>
                    <a:pt x="4592106" y="1861501"/>
                  </a:cubicBezTo>
                  <a:cubicBezTo>
                    <a:pt x="4628024" y="1808057"/>
                    <a:pt x="4658712" y="1751730"/>
                    <a:pt x="4683122" y="1692521"/>
                  </a:cubicBezTo>
                  <a:cubicBezTo>
                    <a:pt x="4707706" y="1633393"/>
                    <a:pt x="4725404" y="1571467"/>
                    <a:pt x="4738568" y="1507893"/>
                  </a:cubicBezTo>
                  <a:cubicBezTo>
                    <a:pt x="4745106" y="1476106"/>
                    <a:pt x="4750338" y="1443742"/>
                    <a:pt x="4753912" y="1411050"/>
                  </a:cubicBezTo>
                  <a:cubicBezTo>
                    <a:pt x="4754958" y="1402897"/>
                    <a:pt x="4755656" y="1394662"/>
                    <a:pt x="4756440" y="1386509"/>
                  </a:cubicBezTo>
                  <a:cubicBezTo>
                    <a:pt x="4757138" y="1378274"/>
                    <a:pt x="4758010" y="1370204"/>
                    <a:pt x="4758358" y="1361475"/>
                  </a:cubicBezTo>
                  <a:lnTo>
                    <a:pt x="4761148" y="1309759"/>
                  </a:lnTo>
                  <a:cubicBezTo>
                    <a:pt x="4763676" y="1240751"/>
                    <a:pt x="4762106" y="1171659"/>
                    <a:pt x="4756354" y="1102980"/>
                  </a:cubicBezTo>
                  <a:cubicBezTo>
                    <a:pt x="4750774" y="1034218"/>
                    <a:pt x="4740050" y="966033"/>
                    <a:pt x="4725578" y="898753"/>
                  </a:cubicBezTo>
                  <a:cubicBezTo>
                    <a:pt x="4710932" y="831473"/>
                    <a:pt x="4692624" y="765100"/>
                    <a:pt x="4673358" y="699384"/>
                  </a:cubicBezTo>
                  <a:cubicBezTo>
                    <a:pt x="4634912" y="568037"/>
                    <a:pt x="4592456" y="438419"/>
                    <a:pt x="4538491" y="312754"/>
                  </a:cubicBezTo>
                  <a:cubicBezTo>
                    <a:pt x="4511464" y="250003"/>
                    <a:pt x="4481301" y="188406"/>
                    <a:pt x="4446604" y="129196"/>
                  </a:cubicBezTo>
                  <a:cubicBezTo>
                    <a:pt x="4438147" y="114291"/>
                    <a:pt x="4428819" y="99798"/>
                    <a:pt x="4419840" y="85222"/>
                  </a:cubicBezTo>
                  <a:cubicBezTo>
                    <a:pt x="4410598" y="70728"/>
                    <a:pt x="4401008" y="56482"/>
                    <a:pt x="4391680" y="42071"/>
                  </a:cubicBezTo>
                  <a:lnTo>
                    <a:pt x="4361930" y="0"/>
                  </a:lnTo>
                  <a:lnTo>
                    <a:pt x="4588871" y="0"/>
                  </a:lnTo>
                  <a:lnTo>
                    <a:pt x="4613640" y="38859"/>
                  </a:lnTo>
                  <a:cubicBezTo>
                    <a:pt x="4653306" y="102762"/>
                    <a:pt x="4690706" y="167901"/>
                    <a:pt x="4724445" y="234687"/>
                  </a:cubicBezTo>
                  <a:cubicBezTo>
                    <a:pt x="4792096" y="368257"/>
                    <a:pt x="4844230" y="508828"/>
                    <a:pt x="4876138" y="653022"/>
                  </a:cubicBezTo>
                  <a:cubicBezTo>
                    <a:pt x="4892005" y="725161"/>
                    <a:pt x="4903077" y="797874"/>
                    <a:pt x="4911707" y="870671"/>
                  </a:cubicBezTo>
                  <a:cubicBezTo>
                    <a:pt x="4920513" y="943386"/>
                    <a:pt x="4927574" y="1016019"/>
                    <a:pt x="4934810" y="1088487"/>
                  </a:cubicBezTo>
                  <a:cubicBezTo>
                    <a:pt x="4941697" y="1161036"/>
                    <a:pt x="4947799" y="1233586"/>
                    <a:pt x="4953206" y="1306301"/>
                  </a:cubicBezTo>
                  <a:lnTo>
                    <a:pt x="4956954" y="1360899"/>
                  </a:lnTo>
                  <a:cubicBezTo>
                    <a:pt x="4957651" y="1369875"/>
                    <a:pt x="4958087" y="1379510"/>
                    <a:pt x="4958610" y="1388980"/>
                  </a:cubicBezTo>
                  <a:cubicBezTo>
                    <a:pt x="4959133" y="1398450"/>
                    <a:pt x="4959656" y="1408003"/>
                    <a:pt x="4959830" y="1417555"/>
                  </a:cubicBezTo>
                  <a:cubicBezTo>
                    <a:pt x="4961138" y="1455683"/>
                    <a:pt x="4960702" y="1494140"/>
                    <a:pt x="4958174" y="1532680"/>
                  </a:cubicBezTo>
                  <a:cubicBezTo>
                    <a:pt x="4948760" y="1686920"/>
                    <a:pt x="4904908" y="1842314"/>
                    <a:pt x="4834030" y="1984861"/>
                  </a:cubicBezTo>
                  <a:cubicBezTo>
                    <a:pt x="4763328" y="2127820"/>
                    <a:pt x="4665860" y="2256121"/>
                    <a:pt x="4558106" y="2368857"/>
                  </a:cubicBezTo>
                  <a:cubicBezTo>
                    <a:pt x="4504230" y="2425432"/>
                    <a:pt x="4447650" y="2478465"/>
                    <a:pt x="4389936" y="2528945"/>
                  </a:cubicBezTo>
                  <a:cubicBezTo>
                    <a:pt x="4332223" y="2579425"/>
                    <a:pt x="4273726" y="2628011"/>
                    <a:pt x="4214618" y="2674457"/>
                  </a:cubicBezTo>
                  <a:cubicBezTo>
                    <a:pt x="4096664" y="2767759"/>
                    <a:pt x="3976094" y="2852826"/>
                    <a:pt x="3858489" y="2936658"/>
                  </a:cubicBezTo>
                  <a:lnTo>
                    <a:pt x="3768868" y="3000643"/>
                  </a:lnTo>
                  <a:cubicBezTo>
                    <a:pt x="3738530" y="3022136"/>
                    <a:pt x="3707929" y="3043794"/>
                    <a:pt x="3676806" y="3065040"/>
                  </a:cubicBezTo>
                  <a:cubicBezTo>
                    <a:pt x="3645770" y="3086369"/>
                    <a:pt x="3614386" y="3107615"/>
                    <a:pt x="3582477" y="3128614"/>
                  </a:cubicBezTo>
                  <a:cubicBezTo>
                    <a:pt x="3550483" y="3149449"/>
                    <a:pt x="3518226" y="3170118"/>
                    <a:pt x="3485185" y="3190377"/>
                  </a:cubicBezTo>
                  <a:cubicBezTo>
                    <a:pt x="3419452" y="3230975"/>
                    <a:pt x="3351625" y="3270338"/>
                    <a:pt x="3280923" y="3306325"/>
                  </a:cubicBezTo>
                  <a:cubicBezTo>
                    <a:pt x="3210307" y="3342476"/>
                    <a:pt x="3137251" y="3376074"/>
                    <a:pt x="3061230" y="3404897"/>
                  </a:cubicBezTo>
                  <a:cubicBezTo>
                    <a:pt x="2909886" y="3463366"/>
                    <a:pt x="2747295" y="3502810"/>
                    <a:pt x="2583137" y="3518292"/>
                  </a:cubicBezTo>
                  <a:cubicBezTo>
                    <a:pt x="2542075" y="3521999"/>
                    <a:pt x="2501013" y="3524798"/>
                    <a:pt x="2460038" y="3525622"/>
                  </a:cubicBezTo>
                  <a:lnTo>
                    <a:pt x="2429264" y="3526280"/>
                  </a:lnTo>
                  <a:cubicBezTo>
                    <a:pt x="2419064" y="3526363"/>
                    <a:pt x="2408777" y="3526116"/>
                    <a:pt x="2398576" y="3526116"/>
                  </a:cubicBezTo>
                  <a:lnTo>
                    <a:pt x="2367977" y="3525786"/>
                  </a:lnTo>
                  <a:lnTo>
                    <a:pt x="2338249" y="3524716"/>
                  </a:lnTo>
                  <a:cubicBezTo>
                    <a:pt x="2259089" y="3522327"/>
                    <a:pt x="2179756" y="3516399"/>
                    <a:pt x="2100770" y="3506845"/>
                  </a:cubicBezTo>
                  <a:cubicBezTo>
                    <a:pt x="2021699" y="3497787"/>
                    <a:pt x="1942801" y="3484776"/>
                    <a:pt x="1864776" y="3467483"/>
                  </a:cubicBezTo>
                  <a:cubicBezTo>
                    <a:pt x="1786836" y="3450025"/>
                    <a:pt x="1709508" y="3429355"/>
                    <a:pt x="1632964" y="3405803"/>
                  </a:cubicBezTo>
                  <a:cubicBezTo>
                    <a:pt x="1480138" y="3358288"/>
                    <a:pt x="1329055" y="3299160"/>
                    <a:pt x="1189219" y="3220352"/>
                  </a:cubicBezTo>
                  <a:cubicBezTo>
                    <a:pt x="1049296" y="3141708"/>
                    <a:pt x="924367" y="3041982"/>
                    <a:pt x="815305" y="2931634"/>
                  </a:cubicBezTo>
                  <a:cubicBezTo>
                    <a:pt x="760469" y="2876542"/>
                    <a:pt x="710603" y="2817909"/>
                    <a:pt x="663699" y="2757877"/>
                  </a:cubicBezTo>
                  <a:cubicBezTo>
                    <a:pt x="617059" y="2697597"/>
                    <a:pt x="572684" y="2636411"/>
                    <a:pt x="531274" y="2573907"/>
                  </a:cubicBezTo>
                  <a:cubicBezTo>
                    <a:pt x="520638" y="2558426"/>
                    <a:pt x="510612" y="2542697"/>
                    <a:pt x="500325" y="2527051"/>
                  </a:cubicBezTo>
                  <a:lnTo>
                    <a:pt x="470771" y="2481594"/>
                  </a:lnTo>
                  <a:cubicBezTo>
                    <a:pt x="451853" y="2452195"/>
                    <a:pt x="432238" y="2423043"/>
                    <a:pt x="412448" y="2393479"/>
                  </a:cubicBezTo>
                  <a:lnTo>
                    <a:pt x="291616" y="2213464"/>
                  </a:lnTo>
                  <a:cubicBezTo>
                    <a:pt x="251078" y="2152113"/>
                    <a:pt x="211062" y="2088951"/>
                    <a:pt x="173662" y="2023154"/>
                  </a:cubicBezTo>
                  <a:cubicBezTo>
                    <a:pt x="155005" y="1990214"/>
                    <a:pt x="136960" y="1956697"/>
                    <a:pt x="120483" y="1922276"/>
                  </a:cubicBezTo>
                  <a:cubicBezTo>
                    <a:pt x="104093" y="1887771"/>
                    <a:pt x="88837" y="1852608"/>
                    <a:pt x="75324" y="1816703"/>
                  </a:cubicBezTo>
                  <a:cubicBezTo>
                    <a:pt x="62072" y="1780717"/>
                    <a:pt x="50303" y="1744235"/>
                    <a:pt x="40713" y="1707179"/>
                  </a:cubicBezTo>
                  <a:cubicBezTo>
                    <a:pt x="36180" y="1688650"/>
                    <a:pt x="31560" y="1670039"/>
                    <a:pt x="27811" y="1651346"/>
                  </a:cubicBezTo>
                  <a:lnTo>
                    <a:pt x="22144" y="1623346"/>
                  </a:lnTo>
                  <a:lnTo>
                    <a:pt x="17436" y="1595265"/>
                  </a:lnTo>
                  <a:cubicBezTo>
                    <a:pt x="5144" y="1520328"/>
                    <a:pt x="0" y="1444978"/>
                    <a:pt x="0" y="1370286"/>
                  </a:cubicBezTo>
                  <a:cubicBezTo>
                    <a:pt x="349" y="1223293"/>
                    <a:pt x="16652" y="1076299"/>
                    <a:pt x="48385" y="931939"/>
                  </a:cubicBezTo>
                  <a:cubicBezTo>
                    <a:pt x="80032" y="787663"/>
                    <a:pt x="128504" y="646187"/>
                    <a:pt x="193801" y="511957"/>
                  </a:cubicBezTo>
                  <a:cubicBezTo>
                    <a:pt x="259404" y="377727"/>
                    <a:pt x="339740" y="250559"/>
                    <a:pt x="431660" y="13137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21">
              <a:extLst>
                <a:ext uri="{FF2B5EF4-FFF2-40B4-BE49-F238E27FC236}">
                  <a16:creationId xmlns:a16="http://schemas.microsoft.com/office/drawing/2014/main" id="{EB03BE98-6C07-41CD-ACA9-5244A3DA10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61928" y="0"/>
              <a:ext cx="4934374" cy="3484134"/>
            </a:xfrm>
            <a:custGeom>
              <a:avLst/>
              <a:gdLst>
                <a:gd name="connsiteX0" fmla="*/ 585303 w 4934374"/>
                <a:gd name="connsiteY0" fmla="*/ 0 h 3484134"/>
                <a:gd name="connsiteX1" fmla="*/ 1213739 w 4934374"/>
                <a:gd name="connsiteY1" fmla="*/ 0 h 3484134"/>
                <a:gd name="connsiteX2" fmla="*/ 1150162 w 4934374"/>
                <a:gd name="connsiteY2" fmla="*/ 47028 h 3484134"/>
                <a:gd name="connsiteX3" fmla="*/ 626038 w 4934374"/>
                <a:gd name="connsiteY3" fmla="*/ 660944 h 3484134"/>
                <a:gd name="connsiteX4" fmla="*/ 435986 w 4934374"/>
                <a:gd name="connsiteY4" fmla="*/ 1375409 h 3484134"/>
                <a:gd name="connsiteX5" fmla="*/ 750530 w 4934374"/>
                <a:gd name="connsiteY5" fmla="*/ 2038817 h 3484134"/>
                <a:gd name="connsiteX6" fmla="*/ 909024 w 4934374"/>
                <a:gd name="connsiteY6" fmla="*/ 2249384 h 3484134"/>
                <a:gd name="connsiteX7" fmla="*/ 2396223 w 4934374"/>
                <a:gd name="connsiteY7" fmla="*/ 3072468 h 3484134"/>
                <a:gd name="connsiteX8" fmla="*/ 3525201 w 4934374"/>
                <a:gd name="connsiteY8" fmla="*/ 2566101 h 3484134"/>
                <a:gd name="connsiteX9" fmla="*/ 3662596 w 4934374"/>
                <a:gd name="connsiteY9" fmla="*/ 2465552 h 3484134"/>
                <a:gd name="connsiteX10" fmla="*/ 4287500 w 4934374"/>
                <a:gd name="connsiteY10" fmla="*/ 1939915 h 3484134"/>
                <a:gd name="connsiteX11" fmla="*/ 4498563 w 4934374"/>
                <a:gd name="connsiteY11" fmla="*/ 1375409 h 3484134"/>
                <a:gd name="connsiteX12" fmla="*/ 4132831 w 4934374"/>
                <a:gd name="connsiteY12" fmla="*/ 134540 h 3484134"/>
                <a:gd name="connsiteX13" fmla="*/ 4025590 w 4934374"/>
                <a:gd name="connsiteY13" fmla="*/ 0 h 3484134"/>
                <a:gd name="connsiteX14" fmla="*/ 4555675 w 4934374"/>
                <a:gd name="connsiteY14" fmla="*/ 0 h 3484134"/>
                <a:gd name="connsiteX15" fmla="*/ 4605933 w 4934374"/>
                <a:gd name="connsiteY15" fmla="*/ 77740 h 3484134"/>
                <a:gd name="connsiteX16" fmla="*/ 4934374 w 4934374"/>
                <a:gd name="connsiteY16" fmla="*/ 1375327 h 3484134"/>
                <a:gd name="connsiteX17" fmla="*/ 3793540 w 4934374"/>
                <a:gd name="connsiteY17" fmla="*/ 2890475 h 3484134"/>
                <a:gd name="connsiteX18" fmla="*/ 2396135 w 4934374"/>
                <a:gd name="connsiteY18" fmla="*/ 3484134 h 3484134"/>
                <a:gd name="connsiteX19" fmla="*/ 548273 w 4934374"/>
                <a:gd name="connsiteY19" fmla="*/ 2480458 h 3484134"/>
                <a:gd name="connsiteX20" fmla="*/ 0 w 4934374"/>
                <a:gd name="connsiteY20" fmla="*/ 1375327 h 3484134"/>
                <a:gd name="connsiteX21" fmla="*/ 512166 w 4934374"/>
                <a:gd name="connsiteY21" fmla="*/ 77740 h 3484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934374" h="3484134">
                  <a:moveTo>
                    <a:pt x="585303" y="0"/>
                  </a:moveTo>
                  <a:lnTo>
                    <a:pt x="1213739" y="0"/>
                  </a:lnTo>
                  <a:lnTo>
                    <a:pt x="1150162" y="47028"/>
                  </a:lnTo>
                  <a:cubicBezTo>
                    <a:pt x="925762" y="228608"/>
                    <a:pt x="749397" y="435224"/>
                    <a:pt x="626038" y="660944"/>
                  </a:cubicBezTo>
                  <a:cubicBezTo>
                    <a:pt x="499976" y="891687"/>
                    <a:pt x="435986" y="1132066"/>
                    <a:pt x="435986" y="1375409"/>
                  </a:cubicBezTo>
                  <a:cubicBezTo>
                    <a:pt x="435986" y="1620481"/>
                    <a:pt x="538074" y="1763604"/>
                    <a:pt x="750530" y="2038817"/>
                  </a:cubicBezTo>
                  <a:cubicBezTo>
                    <a:pt x="801792" y="2105190"/>
                    <a:pt x="854797" y="2173870"/>
                    <a:pt x="909024" y="2249384"/>
                  </a:cubicBezTo>
                  <a:cubicBezTo>
                    <a:pt x="1323389" y="2826326"/>
                    <a:pt x="1768180" y="3072468"/>
                    <a:pt x="2396223" y="3072468"/>
                  </a:cubicBezTo>
                  <a:cubicBezTo>
                    <a:pt x="2808409" y="3072468"/>
                    <a:pt x="3110835" y="2871947"/>
                    <a:pt x="3525201" y="2566101"/>
                  </a:cubicBezTo>
                  <a:cubicBezTo>
                    <a:pt x="3571493" y="2531926"/>
                    <a:pt x="3617786" y="2498162"/>
                    <a:pt x="3662596" y="2465552"/>
                  </a:cubicBezTo>
                  <a:cubicBezTo>
                    <a:pt x="3905479" y="2288583"/>
                    <a:pt x="4134849" y="2121414"/>
                    <a:pt x="4287500" y="1939915"/>
                  </a:cubicBezTo>
                  <a:cubicBezTo>
                    <a:pt x="4433440" y="1766404"/>
                    <a:pt x="4498563" y="1592317"/>
                    <a:pt x="4498563" y="1375409"/>
                  </a:cubicBezTo>
                  <a:cubicBezTo>
                    <a:pt x="4498563" y="899696"/>
                    <a:pt x="4369741" y="465973"/>
                    <a:pt x="4132831" y="134540"/>
                  </a:cubicBezTo>
                  <a:lnTo>
                    <a:pt x="4025590" y="0"/>
                  </a:lnTo>
                  <a:lnTo>
                    <a:pt x="4555675" y="0"/>
                  </a:lnTo>
                  <a:lnTo>
                    <a:pt x="4605933" y="77740"/>
                  </a:lnTo>
                  <a:cubicBezTo>
                    <a:pt x="4820335" y="448137"/>
                    <a:pt x="4934374" y="894662"/>
                    <a:pt x="4934374" y="1375327"/>
                  </a:cubicBezTo>
                  <a:cubicBezTo>
                    <a:pt x="4934374" y="2116884"/>
                    <a:pt x="4369100" y="2465635"/>
                    <a:pt x="3793540" y="2890475"/>
                  </a:cubicBezTo>
                  <a:cubicBezTo>
                    <a:pt x="3374293" y="3199945"/>
                    <a:pt x="2970389" y="3484134"/>
                    <a:pt x="2396135" y="3484134"/>
                  </a:cubicBezTo>
                  <a:cubicBezTo>
                    <a:pt x="1544564" y="3484134"/>
                    <a:pt x="991670" y="3097832"/>
                    <a:pt x="548273" y="2480458"/>
                  </a:cubicBezTo>
                  <a:cubicBezTo>
                    <a:pt x="282201" y="2110049"/>
                    <a:pt x="0" y="1856001"/>
                    <a:pt x="0" y="1375327"/>
                  </a:cubicBezTo>
                  <a:cubicBezTo>
                    <a:pt x="0" y="894662"/>
                    <a:pt x="195505" y="448137"/>
                    <a:pt x="512166" y="777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D13CCE92-2C5E-48BC-9713-FBEEDBAE6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61928" y="0"/>
              <a:ext cx="4934374" cy="3484134"/>
            </a:xfrm>
            <a:custGeom>
              <a:avLst/>
              <a:gdLst>
                <a:gd name="connsiteX0" fmla="*/ 585303 w 4934374"/>
                <a:gd name="connsiteY0" fmla="*/ 0 h 3484134"/>
                <a:gd name="connsiteX1" fmla="*/ 1354934 w 4934374"/>
                <a:gd name="connsiteY1" fmla="*/ 0 h 3484134"/>
                <a:gd name="connsiteX2" fmla="*/ 1206830 w 4934374"/>
                <a:gd name="connsiteY2" fmla="*/ 109531 h 3484134"/>
                <a:gd name="connsiteX3" fmla="*/ 703453 w 4934374"/>
                <a:gd name="connsiteY3" fmla="*/ 698660 h 3484134"/>
                <a:gd name="connsiteX4" fmla="*/ 523079 w 4934374"/>
                <a:gd name="connsiteY4" fmla="*/ 1375409 h 3484134"/>
                <a:gd name="connsiteX5" fmla="*/ 820885 w 4934374"/>
                <a:gd name="connsiteY5" fmla="*/ 1990313 h 3484134"/>
                <a:gd name="connsiteX6" fmla="*/ 981122 w 4934374"/>
                <a:gd name="connsiteY6" fmla="*/ 2203186 h 3484134"/>
                <a:gd name="connsiteX7" fmla="*/ 1592426 w 4934374"/>
                <a:gd name="connsiteY7" fmla="*/ 2792645 h 3484134"/>
                <a:gd name="connsiteX8" fmla="*/ 2396135 w 4934374"/>
                <a:gd name="connsiteY8" fmla="*/ 2990119 h 3484134"/>
                <a:gd name="connsiteX9" fmla="*/ 2913112 w 4934374"/>
                <a:gd name="connsiteY9" fmla="*/ 2864371 h 3484134"/>
                <a:gd name="connsiteX10" fmla="*/ 3471411 w 4934374"/>
                <a:gd name="connsiteY10" fmla="*/ 2501292 h 3484134"/>
                <a:gd name="connsiteX11" fmla="*/ 3609242 w 4934374"/>
                <a:gd name="connsiteY11" fmla="*/ 2400414 h 3484134"/>
                <a:gd name="connsiteX12" fmla="*/ 4219151 w 4934374"/>
                <a:gd name="connsiteY12" fmla="*/ 1888693 h 3484134"/>
                <a:gd name="connsiteX13" fmla="*/ 4411296 w 4934374"/>
                <a:gd name="connsiteY13" fmla="*/ 1375409 h 3484134"/>
                <a:gd name="connsiteX14" fmla="*/ 3957874 w 4934374"/>
                <a:gd name="connsiteY14" fmla="*/ 51887 h 3484134"/>
                <a:gd name="connsiteX15" fmla="*/ 3906637 w 4934374"/>
                <a:gd name="connsiteY15" fmla="*/ 0 h 3484134"/>
                <a:gd name="connsiteX16" fmla="*/ 4555675 w 4934374"/>
                <a:gd name="connsiteY16" fmla="*/ 0 h 3484134"/>
                <a:gd name="connsiteX17" fmla="*/ 4605933 w 4934374"/>
                <a:gd name="connsiteY17" fmla="*/ 77740 h 3484134"/>
                <a:gd name="connsiteX18" fmla="*/ 4934374 w 4934374"/>
                <a:gd name="connsiteY18" fmla="*/ 1375327 h 3484134"/>
                <a:gd name="connsiteX19" fmla="*/ 3793540 w 4934374"/>
                <a:gd name="connsiteY19" fmla="*/ 2890475 h 3484134"/>
                <a:gd name="connsiteX20" fmla="*/ 2396135 w 4934374"/>
                <a:gd name="connsiteY20" fmla="*/ 3484134 h 3484134"/>
                <a:gd name="connsiteX21" fmla="*/ 548273 w 4934374"/>
                <a:gd name="connsiteY21" fmla="*/ 2480458 h 3484134"/>
                <a:gd name="connsiteX22" fmla="*/ 0 w 4934374"/>
                <a:gd name="connsiteY22" fmla="*/ 1375327 h 3484134"/>
                <a:gd name="connsiteX23" fmla="*/ 512166 w 4934374"/>
                <a:gd name="connsiteY23" fmla="*/ 77740 h 3484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34374" h="3484134">
                  <a:moveTo>
                    <a:pt x="585303" y="0"/>
                  </a:moveTo>
                  <a:lnTo>
                    <a:pt x="1354934" y="0"/>
                  </a:lnTo>
                  <a:lnTo>
                    <a:pt x="1206830" y="109531"/>
                  </a:lnTo>
                  <a:cubicBezTo>
                    <a:pt x="994024" y="281725"/>
                    <a:pt x="820013" y="485457"/>
                    <a:pt x="703453" y="698660"/>
                  </a:cubicBezTo>
                  <a:cubicBezTo>
                    <a:pt x="583756" y="917627"/>
                    <a:pt x="523079" y="1145324"/>
                    <a:pt x="523079" y="1375409"/>
                  </a:cubicBezTo>
                  <a:cubicBezTo>
                    <a:pt x="523079" y="1595282"/>
                    <a:pt x="614356" y="1722842"/>
                    <a:pt x="820885" y="1990313"/>
                  </a:cubicBezTo>
                  <a:cubicBezTo>
                    <a:pt x="872582" y="2057263"/>
                    <a:pt x="926023" y="2126519"/>
                    <a:pt x="981122" y="2203186"/>
                  </a:cubicBezTo>
                  <a:cubicBezTo>
                    <a:pt x="1175968" y="2474445"/>
                    <a:pt x="1375871" y="2667309"/>
                    <a:pt x="1592426" y="2792645"/>
                  </a:cubicBezTo>
                  <a:cubicBezTo>
                    <a:pt x="1821970" y="2925557"/>
                    <a:pt x="2084904" y="2990119"/>
                    <a:pt x="2396135" y="2990119"/>
                  </a:cubicBezTo>
                  <a:cubicBezTo>
                    <a:pt x="2572762" y="2990119"/>
                    <a:pt x="2737009" y="2950179"/>
                    <a:pt x="2913112" y="2864371"/>
                  </a:cubicBezTo>
                  <a:cubicBezTo>
                    <a:pt x="3093922" y="2776257"/>
                    <a:pt x="3272903" y="2647792"/>
                    <a:pt x="3471411" y="2501292"/>
                  </a:cubicBezTo>
                  <a:cubicBezTo>
                    <a:pt x="3517964" y="2466952"/>
                    <a:pt x="3564344" y="2433106"/>
                    <a:pt x="3609242" y="2400414"/>
                  </a:cubicBezTo>
                  <a:cubicBezTo>
                    <a:pt x="3847766" y="2226574"/>
                    <a:pt x="4073038" y="2062368"/>
                    <a:pt x="4219151" y="1888693"/>
                  </a:cubicBezTo>
                  <a:cubicBezTo>
                    <a:pt x="4353844" y="1728606"/>
                    <a:pt x="4411296" y="1575106"/>
                    <a:pt x="4411296" y="1375409"/>
                  </a:cubicBezTo>
                  <a:cubicBezTo>
                    <a:pt x="4411296" y="851089"/>
                    <a:pt x="4250274" y="381038"/>
                    <a:pt x="3957874" y="51887"/>
                  </a:cubicBezTo>
                  <a:lnTo>
                    <a:pt x="3906637" y="0"/>
                  </a:lnTo>
                  <a:lnTo>
                    <a:pt x="4555675" y="0"/>
                  </a:lnTo>
                  <a:lnTo>
                    <a:pt x="4605933" y="77740"/>
                  </a:lnTo>
                  <a:cubicBezTo>
                    <a:pt x="4820335" y="448137"/>
                    <a:pt x="4934374" y="894662"/>
                    <a:pt x="4934374" y="1375327"/>
                  </a:cubicBezTo>
                  <a:cubicBezTo>
                    <a:pt x="4934374" y="2116884"/>
                    <a:pt x="4369100" y="2465635"/>
                    <a:pt x="3793540" y="2890475"/>
                  </a:cubicBezTo>
                  <a:cubicBezTo>
                    <a:pt x="3374293" y="3199945"/>
                    <a:pt x="2970389" y="3484134"/>
                    <a:pt x="2396135" y="3484134"/>
                  </a:cubicBezTo>
                  <a:cubicBezTo>
                    <a:pt x="1544564" y="3484134"/>
                    <a:pt x="991670" y="3097832"/>
                    <a:pt x="548273" y="2480458"/>
                  </a:cubicBezTo>
                  <a:cubicBezTo>
                    <a:pt x="282201" y="2110049"/>
                    <a:pt x="0" y="1856001"/>
                    <a:pt x="0" y="1375327"/>
                  </a:cubicBezTo>
                  <a:cubicBezTo>
                    <a:pt x="0" y="894662"/>
                    <a:pt x="195505" y="448137"/>
                    <a:pt x="512166" y="777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F9127AE-1BAF-6BCB-F3FC-30A5BF48ED3C}"/>
              </a:ext>
            </a:extLst>
          </p:cNvPr>
          <p:cNvSpPr>
            <a:spLocks noGrp="1"/>
          </p:cNvSpPr>
          <p:nvPr>
            <p:ph type="ctrTitle"/>
          </p:nvPr>
        </p:nvSpPr>
        <p:spPr>
          <a:xfrm>
            <a:off x="804672" y="802955"/>
            <a:ext cx="3908730" cy="1454051"/>
          </a:xfrm>
        </p:spPr>
        <p:txBody>
          <a:bodyPr vert="horz" lIns="91440" tIns="45720" rIns="91440" bIns="45720" rtlCol="0" anchor="b">
            <a:normAutofit/>
          </a:bodyPr>
          <a:lstStyle/>
          <a:p>
            <a:r>
              <a:rPr lang="en-US" sz="3600" b="1" dirty="0">
                <a:solidFill>
                  <a:schemeClr val="tx2"/>
                </a:solidFill>
                <a:latin typeface="Comic Sans MS"/>
              </a:rPr>
              <a:t>Credit Card Fraud Detection</a:t>
            </a:r>
          </a:p>
        </p:txBody>
      </p:sp>
      <p:pic>
        <p:nvPicPr>
          <p:cNvPr id="5" name="Graphic 4">
            <a:extLst>
              <a:ext uri="{FF2B5EF4-FFF2-40B4-BE49-F238E27FC236}">
                <a16:creationId xmlns:a16="http://schemas.microsoft.com/office/drawing/2014/main" id="{BD138902-037C-CEF8-0C89-9FBB9E8B52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775909" y="3675185"/>
            <a:ext cx="3414380" cy="2989757"/>
          </a:xfrm>
          <a:prstGeom prst="rect">
            <a:avLst/>
          </a:prstGeom>
        </p:spPr>
      </p:pic>
      <p:sp>
        <p:nvSpPr>
          <p:cNvPr id="6" name="TextBox 5">
            <a:extLst>
              <a:ext uri="{FF2B5EF4-FFF2-40B4-BE49-F238E27FC236}">
                <a16:creationId xmlns:a16="http://schemas.microsoft.com/office/drawing/2014/main" id="{416DE543-CC8B-7F6C-3524-73C948AA8514}"/>
              </a:ext>
            </a:extLst>
          </p:cNvPr>
          <p:cNvSpPr txBox="1"/>
          <p:nvPr/>
        </p:nvSpPr>
        <p:spPr>
          <a:xfrm>
            <a:off x="358955" y="2415756"/>
            <a:ext cx="4553909" cy="3639289"/>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gn="ctr">
              <a:lnSpc>
                <a:spcPct val="90000"/>
              </a:lnSpc>
              <a:spcAft>
                <a:spcPts val="600"/>
              </a:spcAft>
            </a:pPr>
            <a:r>
              <a:rPr lang="en-US" sz="2400" b="1" dirty="0">
                <a:solidFill>
                  <a:schemeClr val="tx2"/>
                </a:solidFill>
              </a:rPr>
              <a:t>BY</a:t>
            </a:r>
            <a:endParaRPr lang="en-US" sz="2400" dirty="0">
              <a:solidFill>
                <a:schemeClr val="tx2"/>
              </a:solidFill>
            </a:endParaRPr>
          </a:p>
          <a:p>
            <a:pPr indent="-228600">
              <a:lnSpc>
                <a:spcPct val="90000"/>
              </a:lnSpc>
              <a:spcAft>
                <a:spcPts val="600"/>
              </a:spcAft>
              <a:buFont typeface="Arial" panose="020B0604020202020204" pitchFamily="34" charset="0"/>
              <a:buChar char="•"/>
            </a:pPr>
            <a:endParaRPr lang="en-US" b="1" dirty="0">
              <a:solidFill>
                <a:schemeClr val="tx2"/>
              </a:solidFill>
            </a:endParaRPr>
          </a:p>
          <a:p>
            <a:pPr algn="ctr">
              <a:lnSpc>
                <a:spcPct val="90000"/>
              </a:lnSpc>
              <a:spcAft>
                <a:spcPts val="600"/>
              </a:spcAft>
            </a:pPr>
            <a:r>
              <a:rPr lang="en-US" b="1" dirty="0">
                <a:solidFill>
                  <a:schemeClr val="tx2"/>
                </a:solidFill>
              </a:rPr>
              <a:t>Ritik Kataria</a:t>
            </a:r>
            <a:endParaRPr lang="en-US" dirty="0">
              <a:solidFill>
                <a:schemeClr val="tx2"/>
              </a:solidFill>
            </a:endParaRPr>
          </a:p>
          <a:p>
            <a:pPr indent="-228600">
              <a:lnSpc>
                <a:spcPct val="90000"/>
              </a:lnSpc>
              <a:spcAft>
                <a:spcPts val="600"/>
              </a:spcAft>
              <a:buFont typeface="Arial" panose="020B0604020202020204" pitchFamily="34" charset="0"/>
              <a:buChar char="•"/>
            </a:pPr>
            <a:endParaRPr lang="en-US" dirty="0">
              <a:solidFill>
                <a:schemeClr val="tx2"/>
              </a:solidFill>
            </a:endParaRPr>
          </a:p>
        </p:txBody>
      </p:sp>
      <p:pic>
        <p:nvPicPr>
          <p:cNvPr id="4" name="Picture 3" descr="A logo for a college&#10;&#10;Description automatically generated">
            <a:extLst>
              <a:ext uri="{FF2B5EF4-FFF2-40B4-BE49-F238E27FC236}">
                <a16:creationId xmlns:a16="http://schemas.microsoft.com/office/drawing/2014/main" id="{6E4A5643-1E87-B342-438C-2288C32431F2}"/>
              </a:ext>
            </a:extLst>
          </p:cNvPr>
          <p:cNvPicPr>
            <a:picLocks noChangeAspect="1"/>
          </p:cNvPicPr>
          <p:nvPr/>
        </p:nvPicPr>
        <p:blipFill>
          <a:blip r:embed="rId4"/>
          <a:stretch>
            <a:fillRect/>
          </a:stretch>
        </p:blipFill>
        <p:spPr>
          <a:xfrm>
            <a:off x="6417639" y="232464"/>
            <a:ext cx="1996361" cy="1996361"/>
          </a:xfrm>
          <a:prstGeom prst="rect">
            <a:avLst/>
          </a:prstGeom>
        </p:spPr>
      </p:pic>
    </p:spTree>
    <p:extLst>
      <p:ext uri="{BB962C8B-B14F-4D97-AF65-F5344CB8AC3E}">
        <p14:creationId xmlns:p14="http://schemas.microsoft.com/office/powerpoint/2010/main" val="4783548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930912CD-2702-9A0C-5B2B-BDD0CD3B02EF}"/>
              </a:ext>
            </a:extLst>
          </p:cNvPr>
          <p:cNvSpPr>
            <a:spLocks noGrp="1"/>
          </p:cNvSpPr>
          <p:nvPr>
            <p:ph type="title"/>
          </p:nvPr>
        </p:nvSpPr>
        <p:spPr>
          <a:xfrm>
            <a:off x="838200" y="365125"/>
            <a:ext cx="5393361" cy="1325563"/>
          </a:xfrm>
        </p:spPr>
        <p:txBody>
          <a:bodyPr>
            <a:normAutofit/>
          </a:bodyPr>
          <a:lstStyle/>
          <a:p>
            <a:r>
              <a:rPr lang="en-CA" dirty="0">
                <a:latin typeface="Comic Sans MS" panose="030F0702030302020204" pitchFamily="66" charset="0"/>
                <a:ea typeface="Calibri" panose="020F0502020204030204" pitchFamily="34" charset="0"/>
                <a:cs typeface="Calibri" panose="020F0502020204030204" pitchFamily="34" charset="0"/>
              </a:rPr>
              <a:t>Outline</a:t>
            </a:r>
          </a:p>
        </p:txBody>
      </p:sp>
      <p:sp>
        <p:nvSpPr>
          <p:cNvPr id="12" name="Freeform: Shape 14">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B939D371-F044-43D3-6FF9-0A49E39A2E73}"/>
              </a:ext>
            </a:extLst>
          </p:cNvPr>
          <p:cNvSpPr>
            <a:spLocks noGrp="1"/>
          </p:cNvSpPr>
          <p:nvPr>
            <p:ph idx="1"/>
          </p:nvPr>
        </p:nvSpPr>
        <p:spPr>
          <a:xfrm>
            <a:off x="838200" y="1825625"/>
            <a:ext cx="5393361" cy="4351338"/>
          </a:xfrm>
        </p:spPr>
        <p:txBody>
          <a:bodyPr vert="horz" lIns="91440" tIns="45720" rIns="91440" bIns="45720" rtlCol="0">
            <a:normAutofit/>
          </a:bodyPr>
          <a:lstStyle/>
          <a:p>
            <a:pPr marL="342900" indent="-342900"/>
            <a:r>
              <a:rPr lang="en-CA" sz="1800" dirty="0">
                <a:latin typeface="Times New Roman" panose="02020603050405020304" pitchFamily="18" charset="0"/>
                <a:ea typeface="+mn-lt"/>
                <a:cs typeface="Times New Roman" panose="02020603050405020304" pitchFamily="18" charset="0"/>
              </a:rPr>
              <a:t>Business Problem/Opportunity </a:t>
            </a:r>
            <a:endParaRPr lang="en-CA" sz="1800" dirty="0">
              <a:latin typeface="Times New Roman" panose="02020603050405020304" pitchFamily="18" charset="0"/>
              <a:cs typeface="Times New Roman" panose="02020603050405020304" pitchFamily="18" charset="0"/>
            </a:endParaRPr>
          </a:p>
          <a:p>
            <a:pPr marL="342900" indent="-342900"/>
            <a:r>
              <a:rPr lang="en-CA" sz="1800" dirty="0">
                <a:latin typeface="Times New Roman" panose="02020603050405020304" pitchFamily="18" charset="0"/>
                <a:cs typeface="Times New Roman" panose="02020603050405020304" pitchFamily="18" charset="0"/>
              </a:rPr>
              <a:t>Types of Frauds using Credit Cards</a:t>
            </a:r>
          </a:p>
          <a:p>
            <a:pPr marL="342900" indent="-342900"/>
            <a:r>
              <a:rPr lang="en-CA" sz="1800" dirty="0">
                <a:latin typeface="Times New Roman" panose="02020603050405020304" pitchFamily="18" charset="0"/>
                <a:ea typeface="+mn-lt"/>
                <a:cs typeface="Times New Roman" panose="02020603050405020304" pitchFamily="18" charset="0"/>
              </a:rPr>
              <a:t>Background of Organization</a:t>
            </a:r>
          </a:p>
          <a:p>
            <a:pPr marL="342900" indent="-342900"/>
            <a:r>
              <a:rPr lang="en-CA" sz="1800" dirty="0">
                <a:latin typeface="Times New Roman" panose="02020603050405020304" pitchFamily="18" charset="0"/>
                <a:cs typeface="Times New Roman" panose="02020603050405020304" pitchFamily="18" charset="0"/>
              </a:rPr>
              <a:t>Impact of the Fraud on the Banks/Economy</a:t>
            </a:r>
          </a:p>
          <a:p>
            <a:pPr marL="342900" indent="-342900"/>
            <a:r>
              <a:rPr lang="en-CA" sz="1800" dirty="0">
                <a:latin typeface="Times New Roman" panose="02020603050405020304" pitchFamily="18" charset="0"/>
                <a:ea typeface="+mn-lt"/>
                <a:cs typeface="Times New Roman" panose="02020603050405020304" pitchFamily="18" charset="0"/>
              </a:rPr>
              <a:t>Data Description</a:t>
            </a:r>
          </a:p>
          <a:p>
            <a:pPr marL="342900" indent="-342900"/>
            <a:r>
              <a:rPr lang="en-CA" sz="1800" dirty="0">
                <a:latin typeface="Times New Roman" panose="02020603050405020304" pitchFamily="18" charset="0"/>
                <a:ea typeface="+mn-lt"/>
                <a:cs typeface="Times New Roman" panose="02020603050405020304" pitchFamily="18" charset="0"/>
              </a:rPr>
              <a:t>Data Mining Problem</a:t>
            </a:r>
          </a:p>
          <a:p>
            <a:pPr marL="342900" indent="-342900"/>
            <a:r>
              <a:rPr lang="en-CA" sz="1800" dirty="0">
                <a:latin typeface="Times New Roman" panose="02020603050405020304" pitchFamily="18" charset="0"/>
                <a:ea typeface="+mn-lt"/>
                <a:cs typeface="Times New Roman" panose="02020603050405020304" pitchFamily="18" charset="0"/>
              </a:rPr>
              <a:t>Methods </a:t>
            </a:r>
          </a:p>
          <a:p>
            <a:pPr marL="342900" indent="-342900"/>
            <a:r>
              <a:rPr lang="en-CA" sz="1800" dirty="0">
                <a:latin typeface="Times New Roman" panose="02020603050405020304" pitchFamily="18" charset="0"/>
                <a:ea typeface="+mn-lt"/>
                <a:cs typeface="Times New Roman" panose="02020603050405020304" pitchFamily="18" charset="0"/>
              </a:rPr>
              <a:t>Evaluation</a:t>
            </a:r>
          </a:p>
          <a:p>
            <a:pPr marL="342900" indent="-342900"/>
            <a:r>
              <a:rPr lang="en-CA" sz="1800" dirty="0">
                <a:latin typeface="Times New Roman" panose="02020603050405020304" pitchFamily="18" charset="0"/>
                <a:ea typeface="+mn-lt"/>
                <a:cs typeface="Times New Roman" panose="02020603050405020304" pitchFamily="18" charset="0"/>
              </a:rPr>
              <a:t>Recommendations </a:t>
            </a:r>
          </a:p>
          <a:p>
            <a:pPr marL="342900" indent="-342900"/>
            <a:r>
              <a:rPr lang="en-CA" sz="1800" dirty="0">
                <a:latin typeface="Times New Roman" panose="02020603050405020304" pitchFamily="18" charset="0"/>
                <a:ea typeface="+mn-lt"/>
                <a:cs typeface="Times New Roman" panose="02020603050405020304" pitchFamily="18" charset="0"/>
              </a:rPr>
              <a:t>Potential Solutions</a:t>
            </a:r>
            <a:endParaRPr lang="en-CA" sz="1800" dirty="0">
              <a:latin typeface="Times New Roman" panose="02020603050405020304" pitchFamily="18" charset="0"/>
              <a:cs typeface="Times New Roman" panose="02020603050405020304" pitchFamily="18" charset="0"/>
            </a:endParaRPr>
          </a:p>
        </p:txBody>
      </p:sp>
      <p:sp>
        <p:nvSpPr>
          <p:cNvPr id="14" name="Oval 13">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540822"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21E509B5-9D5D-1E17-084B-3A32AB1B81B2}"/>
              </a:ext>
            </a:extLst>
          </p:cNvPr>
          <p:cNvPicPr>
            <a:picLocks noChangeAspect="1"/>
          </p:cNvPicPr>
          <p:nvPr/>
        </p:nvPicPr>
        <p:blipFill>
          <a:blip r:embed="rId2"/>
          <a:stretch>
            <a:fillRect/>
          </a:stretch>
        </p:blipFill>
        <p:spPr>
          <a:xfrm>
            <a:off x="7893219" y="1176557"/>
            <a:ext cx="3768981" cy="3860908"/>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16" name="Freeform: Shape 18">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22">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6580"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6">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2249919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4B2BE-E137-CB61-B36E-D5A0D9DE8CD8}"/>
              </a:ext>
            </a:extLst>
          </p:cNvPr>
          <p:cNvSpPr>
            <a:spLocks noGrp="1"/>
          </p:cNvSpPr>
          <p:nvPr>
            <p:ph type="title"/>
          </p:nvPr>
        </p:nvSpPr>
        <p:spPr>
          <a:xfrm>
            <a:off x="5543664" y="1017070"/>
            <a:ext cx="5474592" cy="1071105"/>
          </a:xfrm>
        </p:spPr>
        <p:txBody>
          <a:bodyPr vert="horz" lIns="91440" tIns="45720" rIns="91440" bIns="45720" rtlCol="0" anchor="b">
            <a:normAutofit/>
          </a:bodyPr>
          <a:lstStyle/>
          <a:p>
            <a:pPr algn="ctr"/>
            <a:r>
              <a:rPr lang="en-US" sz="4800" kern="1200" dirty="0">
                <a:latin typeface="Comic Sans MS"/>
              </a:rPr>
              <a:t>Business Problems</a:t>
            </a:r>
            <a:endParaRPr lang="en-US" dirty="0">
              <a:latin typeface="Comic Sans MS"/>
            </a:endParaRPr>
          </a:p>
        </p:txBody>
      </p:sp>
      <p:pic>
        <p:nvPicPr>
          <p:cNvPr id="31" name="Picture 30" descr="A person with her hand on her face sitting at a computer&#10;&#10;Description automatically generated">
            <a:extLst>
              <a:ext uri="{FF2B5EF4-FFF2-40B4-BE49-F238E27FC236}">
                <a16:creationId xmlns:a16="http://schemas.microsoft.com/office/drawing/2014/main" id="{F8B42C72-AD1F-65CA-B7BF-2EE8CD23F990}"/>
              </a:ext>
            </a:extLst>
          </p:cNvPr>
          <p:cNvPicPr>
            <a:picLocks noChangeAspect="1"/>
          </p:cNvPicPr>
          <p:nvPr/>
        </p:nvPicPr>
        <p:blipFill>
          <a:blip r:embed="rId2"/>
          <a:stretch>
            <a:fillRect/>
          </a:stretch>
        </p:blipFill>
        <p:spPr>
          <a:xfrm>
            <a:off x="825117" y="1321433"/>
            <a:ext cx="4441697" cy="4441697"/>
          </a:xfrm>
          <a:prstGeom prst="rect">
            <a:avLst/>
          </a:prstGeom>
        </p:spPr>
      </p:pic>
      <p:graphicFrame>
        <p:nvGraphicFramePr>
          <p:cNvPr id="34" name="TextBox 5">
            <a:extLst>
              <a:ext uri="{FF2B5EF4-FFF2-40B4-BE49-F238E27FC236}">
                <a16:creationId xmlns:a16="http://schemas.microsoft.com/office/drawing/2014/main" id="{BEE21B41-CF9F-6E14-804E-A75FA4639A60}"/>
              </a:ext>
            </a:extLst>
          </p:cNvPr>
          <p:cNvGraphicFramePr/>
          <p:nvPr>
            <p:extLst>
              <p:ext uri="{D42A27DB-BD31-4B8C-83A1-F6EECF244321}">
                <p14:modId xmlns:p14="http://schemas.microsoft.com/office/powerpoint/2010/main" val="4133063762"/>
              </p:ext>
            </p:extLst>
          </p:nvPr>
        </p:nvGraphicFramePr>
        <p:xfrm>
          <a:off x="5790193" y="1930401"/>
          <a:ext cx="5396151" cy="35701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563820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845A0EE-C4C8-4AE1-B3C6-1261368AC0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46854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Robber">
            <a:extLst>
              <a:ext uri="{FF2B5EF4-FFF2-40B4-BE49-F238E27FC236}">
                <a16:creationId xmlns:a16="http://schemas.microsoft.com/office/drawing/2014/main" id="{60743561-F9E7-3CB8-8804-831FC0C595D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77063" y="292381"/>
            <a:ext cx="3695700" cy="3695700"/>
          </a:xfrm>
          <a:prstGeom prst="rect">
            <a:avLst/>
          </a:prstGeom>
        </p:spPr>
      </p:pic>
      <p:pic>
        <p:nvPicPr>
          <p:cNvPr id="4" name="Picture 3" descr="A person using a machine to insert a credit card into a person&amp;#39;s body">
            <a:extLst>
              <a:ext uri="{FF2B5EF4-FFF2-40B4-BE49-F238E27FC236}">
                <a16:creationId xmlns:a16="http://schemas.microsoft.com/office/drawing/2014/main" id="{789EAAD8-E9CD-D8A9-E521-599F76E5C975}"/>
              </a:ext>
            </a:extLst>
          </p:cNvPr>
          <p:cNvPicPr>
            <a:picLocks noChangeAspect="1"/>
          </p:cNvPicPr>
          <p:nvPr/>
        </p:nvPicPr>
        <p:blipFill>
          <a:blip r:embed="rId4"/>
          <a:stretch>
            <a:fillRect/>
          </a:stretch>
        </p:blipFill>
        <p:spPr>
          <a:xfrm>
            <a:off x="6977063" y="4349284"/>
            <a:ext cx="4289611" cy="2161894"/>
          </a:xfrm>
          <a:prstGeom prst="rect">
            <a:avLst/>
          </a:prstGeom>
        </p:spPr>
      </p:pic>
      <p:sp>
        <p:nvSpPr>
          <p:cNvPr id="2" name="Title 1">
            <a:extLst>
              <a:ext uri="{FF2B5EF4-FFF2-40B4-BE49-F238E27FC236}">
                <a16:creationId xmlns:a16="http://schemas.microsoft.com/office/drawing/2014/main" id="{D1974E19-3C6F-8159-C543-978075F4A1C4}"/>
              </a:ext>
            </a:extLst>
          </p:cNvPr>
          <p:cNvSpPr>
            <a:spLocks noGrp="1"/>
          </p:cNvSpPr>
          <p:nvPr>
            <p:ph type="title"/>
          </p:nvPr>
        </p:nvSpPr>
        <p:spPr>
          <a:xfrm>
            <a:off x="16512" y="640080"/>
            <a:ext cx="5323465" cy="5578816"/>
          </a:xfrm>
        </p:spPr>
        <p:txBody>
          <a:bodyPr vert="horz" lIns="91440" tIns="45720" rIns="91440" bIns="45720" rtlCol="0" anchor="ctr">
            <a:normAutofit/>
          </a:bodyPr>
          <a:lstStyle/>
          <a:p>
            <a:pPr marL="457200" indent="-457200" algn="ctr"/>
            <a:r>
              <a:rPr lang="en-US" kern="1200" dirty="0">
                <a:solidFill>
                  <a:srgbClr val="FFFFFF"/>
                </a:solidFill>
                <a:latin typeface="Comic Sans MS"/>
              </a:rPr>
              <a:t>Types of Frauds</a:t>
            </a:r>
            <a:br>
              <a:rPr lang="en-US" sz="3100" kern="1200" dirty="0"/>
            </a:br>
            <a:br>
              <a:rPr lang="en-US" sz="3100" kern="1200" dirty="0"/>
            </a:br>
            <a:r>
              <a:rPr lang="en-US" sz="3100" kern="1200" dirty="0">
                <a:solidFill>
                  <a:srgbClr val="FFFFFF"/>
                </a:solidFill>
                <a:latin typeface="+mj-lt"/>
                <a:ea typeface="+mj-ea"/>
                <a:cs typeface="+mj-cs"/>
              </a:rPr>
              <a:t>Card Skimming</a:t>
            </a:r>
            <a:br>
              <a:rPr lang="en-US" sz="3100" kern="1200" dirty="0"/>
            </a:br>
            <a:r>
              <a:rPr lang="en-US" sz="3100" kern="1200" dirty="0">
                <a:solidFill>
                  <a:srgbClr val="FFFFFF"/>
                </a:solidFill>
                <a:latin typeface="+mj-lt"/>
                <a:ea typeface="+mj-ea"/>
                <a:cs typeface="+mj-cs"/>
              </a:rPr>
              <a:t>Online Fraud</a:t>
            </a:r>
            <a:br>
              <a:rPr lang="en-US" sz="3100" kern="1200" dirty="0"/>
            </a:br>
            <a:r>
              <a:rPr lang="en-US" sz="3100" kern="1200" dirty="0">
                <a:solidFill>
                  <a:srgbClr val="FFFFFF"/>
                </a:solidFill>
                <a:latin typeface="+mj-lt"/>
                <a:ea typeface="+mj-ea"/>
                <a:cs typeface="+mj-cs"/>
              </a:rPr>
              <a:t>Lost or Stolen Cards</a:t>
            </a:r>
            <a:br>
              <a:rPr lang="en-US" sz="3100" kern="1200" dirty="0"/>
            </a:br>
            <a:r>
              <a:rPr lang="en-US" sz="3100" kern="1200" dirty="0">
                <a:solidFill>
                  <a:srgbClr val="FFFFFF"/>
                </a:solidFill>
                <a:latin typeface="+mj-lt"/>
                <a:ea typeface="+mj-ea"/>
                <a:cs typeface="+mj-cs"/>
              </a:rPr>
              <a:t>Identity Theft</a:t>
            </a:r>
            <a:br>
              <a:rPr lang="en-US" sz="3100" kern="1200" dirty="0"/>
            </a:br>
            <a:r>
              <a:rPr lang="en-US" sz="3100" kern="1200" dirty="0">
                <a:solidFill>
                  <a:srgbClr val="FFFFFF"/>
                </a:solidFill>
                <a:latin typeface="+mj-lt"/>
                <a:ea typeface="+mj-ea"/>
                <a:cs typeface="+mj-cs"/>
              </a:rPr>
              <a:t>Account Takeover</a:t>
            </a:r>
            <a:br>
              <a:rPr lang="en-US" sz="3100" kern="1200" dirty="0"/>
            </a:br>
            <a:r>
              <a:rPr lang="en-US" sz="3100" kern="1200" dirty="0">
                <a:solidFill>
                  <a:srgbClr val="FFFFFF"/>
                </a:solidFill>
                <a:latin typeface="+mj-lt"/>
                <a:ea typeface="+mj-ea"/>
                <a:cs typeface="+mj-cs"/>
              </a:rPr>
              <a:t>Phishing Attack</a:t>
            </a:r>
            <a:br>
              <a:rPr lang="en-US" sz="3100" kern="1200" dirty="0"/>
            </a:br>
            <a:r>
              <a:rPr lang="en-US" sz="3100" kern="1200" dirty="0">
                <a:solidFill>
                  <a:srgbClr val="FFFFFF"/>
                </a:solidFill>
                <a:latin typeface="+mj-lt"/>
                <a:ea typeface="+mj-ea"/>
                <a:cs typeface="+mj-cs"/>
              </a:rPr>
              <a:t>Counterfeit Cards</a:t>
            </a:r>
            <a:br>
              <a:rPr lang="en-US" sz="3100" kern="1200" dirty="0"/>
            </a:br>
            <a:endParaRPr lang="en-US" sz="3100" kern="1200" dirty="0">
              <a:solidFill>
                <a:srgbClr val="FFFFFF"/>
              </a:solidFill>
              <a:latin typeface="+mj-lt"/>
              <a:ea typeface="+mj-ea"/>
              <a:cs typeface="+mj-cs"/>
            </a:endParaRPr>
          </a:p>
        </p:txBody>
      </p:sp>
    </p:spTree>
    <p:extLst>
      <p:ext uri="{BB962C8B-B14F-4D97-AF65-F5344CB8AC3E}">
        <p14:creationId xmlns:p14="http://schemas.microsoft.com/office/powerpoint/2010/main" val="3611799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descr="Graph">
            <a:extLst>
              <a:ext uri="{FF2B5EF4-FFF2-40B4-BE49-F238E27FC236}">
                <a16:creationId xmlns:a16="http://schemas.microsoft.com/office/drawing/2014/main" id="{AECCC744-3E78-AD4B-4AA6-792ADC5D25D3}"/>
              </a:ext>
            </a:extLst>
          </p:cNvPr>
          <p:cNvPicPr>
            <a:picLocks noChangeAspect="1"/>
          </p:cNvPicPr>
          <p:nvPr/>
        </p:nvPicPr>
        <p:blipFill rotWithShape="1">
          <a:blip r:embed="rId2"/>
          <a:srcRect r="11876"/>
          <a:stretch/>
        </p:blipFill>
        <p:spPr>
          <a:xfrm>
            <a:off x="4572016" y="10"/>
            <a:ext cx="7619982" cy="6857990"/>
          </a:xfrm>
          <a:prstGeom prst="rect">
            <a:avLst/>
          </a:prstGeom>
        </p:spPr>
      </p:pic>
      <p:sp>
        <p:nvSpPr>
          <p:cNvPr id="34" name="Rectangle 33">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4D12B1-20D8-C1F2-CF11-B2ED118CA8A8}"/>
              </a:ext>
            </a:extLst>
          </p:cNvPr>
          <p:cNvSpPr>
            <a:spLocks noGrp="1"/>
          </p:cNvSpPr>
          <p:nvPr>
            <p:ph type="title"/>
          </p:nvPr>
        </p:nvSpPr>
        <p:spPr>
          <a:xfrm>
            <a:off x="376438" y="195442"/>
            <a:ext cx="3822189" cy="1899912"/>
          </a:xfrm>
        </p:spPr>
        <p:txBody>
          <a:bodyPr>
            <a:normAutofit/>
          </a:bodyPr>
          <a:lstStyle/>
          <a:p>
            <a:r>
              <a:rPr lang="en-CA" sz="4000" dirty="0">
                <a:latin typeface="Comic Sans MS"/>
              </a:rPr>
              <a:t>Background of Organization</a:t>
            </a:r>
            <a:endParaRPr lang="en-US" sz="4000" dirty="0">
              <a:latin typeface="Comic Sans MS"/>
            </a:endParaRPr>
          </a:p>
        </p:txBody>
      </p:sp>
      <p:sp>
        <p:nvSpPr>
          <p:cNvPr id="3" name="Content Placeholder 2">
            <a:extLst>
              <a:ext uri="{FF2B5EF4-FFF2-40B4-BE49-F238E27FC236}">
                <a16:creationId xmlns:a16="http://schemas.microsoft.com/office/drawing/2014/main" id="{3292292F-0F32-3E03-33EB-EF7D018B5C3B}"/>
              </a:ext>
            </a:extLst>
          </p:cNvPr>
          <p:cNvSpPr>
            <a:spLocks noGrp="1"/>
          </p:cNvSpPr>
          <p:nvPr>
            <p:ph idx="1"/>
          </p:nvPr>
        </p:nvSpPr>
        <p:spPr>
          <a:xfrm>
            <a:off x="157924" y="2290796"/>
            <a:ext cx="4259218" cy="3742762"/>
          </a:xfrm>
        </p:spPr>
        <p:txBody>
          <a:bodyPr vert="horz" lIns="91440" tIns="45720" rIns="91440" bIns="45720" rtlCol="0" anchor="t">
            <a:noAutofit/>
          </a:bodyPr>
          <a:lstStyle/>
          <a:p>
            <a:r>
              <a:rPr lang="en-US" sz="1600" dirty="0">
                <a:latin typeface="Times New Roman" panose="02020603050405020304" pitchFamily="18" charset="0"/>
                <a:ea typeface="Calibri" panose="020F0502020204030204" pitchFamily="34" charset="0"/>
                <a:cs typeface="Times New Roman" panose="02020603050405020304" pitchFamily="18" charset="0"/>
              </a:rPr>
              <a:t>Credit card theft presents substantial challenges and hazards to financial institutions, affecting their financial stability, operational efficiency, reputation, and regulatory compliance. Implementing strong fraud detection and prevention techniques is critical to reducing these risks and protecting both the firm and its customers.</a:t>
            </a:r>
          </a:p>
          <a:p>
            <a:pPr marL="0" indent="0">
              <a:buNone/>
            </a:pPr>
            <a:r>
              <a:rPr lang="en-US" sz="1600" dirty="0">
                <a:latin typeface="Times New Roman" panose="02020603050405020304" pitchFamily="18" charset="0"/>
                <a:ea typeface="Calibri" panose="020F0502020204030204" pitchFamily="34" charset="0"/>
                <a:cs typeface="Times New Roman" panose="02020603050405020304" pitchFamily="18" charset="0"/>
              </a:rPr>
              <a:t>How to deal with it….</a:t>
            </a:r>
          </a:p>
          <a:p>
            <a:r>
              <a:rPr lang="en-US" sz="1600" dirty="0">
                <a:latin typeface="Times New Roman" panose="02020603050405020304" pitchFamily="18" charset="0"/>
                <a:ea typeface="Calibri" panose="020F0502020204030204" pitchFamily="34" charset="0"/>
                <a:cs typeface="Times New Roman" panose="02020603050405020304" pitchFamily="18" charset="0"/>
              </a:rPr>
              <a:t>Financial institutions use sophisticated algorithms and machine learning models to examine transaction patterns and identify odd or suspicious conduct. These technologies can detect possibly fraudulent transactions and flag them for further investigation.</a:t>
            </a:r>
          </a:p>
        </p:txBody>
      </p:sp>
    </p:spTree>
    <p:extLst>
      <p:ext uri="{BB962C8B-B14F-4D97-AF65-F5344CB8AC3E}">
        <p14:creationId xmlns:p14="http://schemas.microsoft.com/office/powerpoint/2010/main" val="3781290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7E82A-F9A1-5B4F-F498-BC8779CFF3C4}"/>
              </a:ext>
            </a:extLst>
          </p:cNvPr>
          <p:cNvSpPr>
            <a:spLocks noGrp="1"/>
          </p:cNvSpPr>
          <p:nvPr>
            <p:ph type="title"/>
          </p:nvPr>
        </p:nvSpPr>
        <p:spPr>
          <a:xfrm>
            <a:off x="112727" y="479493"/>
            <a:ext cx="11969455" cy="1235918"/>
          </a:xfrm>
        </p:spPr>
        <p:txBody>
          <a:bodyPr>
            <a:normAutofit/>
          </a:bodyPr>
          <a:lstStyle/>
          <a:p>
            <a:pPr algn="ctr"/>
            <a:r>
              <a:rPr lang="en-CA" dirty="0">
                <a:latin typeface="Comic Sans MS"/>
              </a:rPr>
              <a:t>Impact of the Frauds </a:t>
            </a:r>
            <a:endParaRPr lang="en-US" dirty="0">
              <a:latin typeface="Comic Sans MS"/>
            </a:endParaRPr>
          </a:p>
        </p:txBody>
      </p:sp>
      <p:graphicFrame>
        <p:nvGraphicFramePr>
          <p:cNvPr id="7" name="Content Placeholder 2">
            <a:extLst>
              <a:ext uri="{FF2B5EF4-FFF2-40B4-BE49-F238E27FC236}">
                <a16:creationId xmlns:a16="http://schemas.microsoft.com/office/drawing/2014/main" id="{A13635BB-6924-70CC-B67F-B8254A8BF135}"/>
              </a:ext>
            </a:extLst>
          </p:cNvPr>
          <p:cNvGraphicFramePr>
            <a:graphicFrameLocks noGrp="1"/>
          </p:cNvGraphicFramePr>
          <p:nvPr>
            <p:ph idx="1"/>
            <p:extLst>
              <p:ext uri="{D42A27DB-BD31-4B8C-83A1-F6EECF244321}">
                <p14:modId xmlns:p14="http://schemas.microsoft.com/office/powerpoint/2010/main" val="1872534490"/>
              </p:ext>
            </p:extLst>
          </p:nvPr>
        </p:nvGraphicFramePr>
        <p:xfrm>
          <a:off x="5894962" y="1984443"/>
          <a:ext cx="5458838" cy="4192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1" name="Picture 80" descr="A person and person with laptops and a graph">
            <a:extLst>
              <a:ext uri="{FF2B5EF4-FFF2-40B4-BE49-F238E27FC236}">
                <a16:creationId xmlns:a16="http://schemas.microsoft.com/office/drawing/2014/main" id="{F672E139-F47A-4E2D-6F23-D592BE9CCA5C}"/>
              </a:ext>
            </a:extLst>
          </p:cNvPr>
          <p:cNvPicPr>
            <a:picLocks noChangeAspect="1"/>
          </p:cNvPicPr>
          <p:nvPr/>
        </p:nvPicPr>
        <p:blipFill>
          <a:blip r:embed="rId7"/>
          <a:stretch>
            <a:fillRect/>
          </a:stretch>
        </p:blipFill>
        <p:spPr>
          <a:xfrm>
            <a:off x="109271" y="1440197"/>
            <a:ext cx="5180792" cy="4054392"/>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Tree>
    <p:extLst>
      <p:ext uri="{BB962C8B-B14F-4D97-AF65-F5344CB8AC3E}">
        <p14:creationId xmlns:p14="http://schemas.microsoft.com/office/powerpoint/2010/main" val="880523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9" name="Arc 18">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0DE728E-3D13-54DC-34EF-95E3CB9D1221}"/>
              </a:ext>
            </a:extLst>
          </p:cNvPr>
          <p:cNvSpPr>
            <a:spLocks noGrp="1"/>
          </p:cNvSpPr>
          <p:nvPr>
            <p:ph type="title"/>
          </p:nvPr>
        </p:nvSpPr>
        <p:spPr>
          <a:xfrm>
            <a:off x="6096000" y="945389"/>
            <a:ext cx="5458838" cy="1325563"/>
          </a:xfrm>
        </p:spPr>
        <p:txBody>
          <a:bodyPr vert="horz" lIns="91440" tIns="45720" rIns="91440" bIns="45720" rtlCol="0" anchor="ctr">
            <a:normAutofit/>
          </a:bodyPr>
          <a:lstStyle/>
          <a:p>
            <a:r>
              <a:rPr lang="en-US" kern="1200" dirty="0">
                <a:latin typeface="Comic Sans MS"/>
              </a:rPr>
              <a:t>Data Description</a:t>
            </a:r>
          </a:p>
        </p:txBody>
      </p:sp>
      <p:sp>
        <p:nvSpPr>
          <p:cNvPr id="22" name="Freeform: Shape 21">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A person standing next to a large cellphone with a paper&#10;&#10;Description automatically generated">
            <a:extLst>
              <a:ext uri="{FF2B5EF4-FFF2-40B4-BE49-F238E27FC236}">
                <a16:creationId xmlns:a16="http://schemas.microsoft.com/office/drawing/2014/main" id="{444CDB52-88E7-A99C-2ADC-024AA6495F59}"/>
              </a:ext>
            </a:extLst>
          </p:cNvPr>
          <p:cNvPicPr>
            <a:picLocks noChangeAspect="1"/>
          </p:cNvPicPr>
          <p:nvPr/>
        </p:nvPicPr>
        <p:blipFill>
          <a:blip r:embed="rId2"/>
          <a:stretch>
            <a:fillRect/>
          </a:stretch>
        </p:blipFill>
        <p:spPr>
          <a:xfrm>
            <a:off x="490269" y="1101113"/>
            <a:ext cx="4373970" cy="437397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4" name="TextBox 3">
            <a:extLst>
              <a:ext uri="{FF2B5EF4-FFF2-40B4-BE49-F238E27FC236}">
                <a16:creationId xmlns:a16="http://schemas.microsoft.com/office/drawing/2014/main" id="{E1C575A5-C884-24B5-B738-DBEC7329454E}"/>
              </a:ext>
            </a:extLst>
          </p:cNvPr>
          <p:cNvSpPr txBox="1"/>
          <p:nvPr/>
        </p:nvSpPr>
        <p:spPr>
          <a:xfrm>
            <a:off x="5798700" y="2270952"/>
            <a:ext cx="5458838" cy="3941692"/>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85750" indent="-228600" algn="just">
              <a:lnSpc>
                <a:spcPct val="90000"/>
              </a:lnSpc>
              <a:spcAft>
                <a:spcPts val="6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 used a primary dataset which consist of transactions made by cardholders through various credit cards.</a:t>
            </a:r>
            <a:endParaRPr lang="en-US" sz="1600" dirty="0">
              <a:latin typeface="Times New Roman" panose="02020603050405020304" pitchFamily="18" charset="0"/>
              <a:cs typeface="Times New Roman" panose="02020603050405020304" pitchFamily="18" charset="0"/>
            </a:endParaRPr>
          </a:p>
          <a:p>
            <a:pPr marL="285750" indent="-228600" algn="just">
              <a:lnSpc>
                <a:spcPct val="90000"/>
              </a:lnSpc>
              <a:spcAft>
                <a:spcPts val="6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 used a secondary dataset. The dataset consists of transactions occurred in span of two days, where we have 492 fraudulent transactions out of 284,807 total transactions. The dataset is highly unbalanced where positive class (Frauds) accounts for only 0.172% of all transactions. </a:t>
            </a:r>
          </a:p>
          <a:p>
            <a:pPr marL="285750" indent="-228600" algn="just">
              <a:lnSpc>
                <a:spcPct val="90000"/>
              </a:lnSpc>
              <a:spcAft>
                <a:spcPts val="6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 set contains only numerical(continuous) input variable which are result of Principle Component Analysis (PCA) feature selection transformation, resulting in 28 principal components and total 30 input features are utilized in this data.</a:t>
            </a:r>
          </a:p>
          <a:p>
            <a:pPr marL="57150" algn="just">
              <a:lnSpc>
                <a:spcPct val="90000"/>
              </a:lnSpc>
              <a:spcAft>
                <a:spcPts val="600"/>
              </a:spcAft>
            </a:pPr>
            <a:endParaRPr lang="en-US" dirty="0">
              <a:latin typeface="Times New Roman" panose="02020603050405020304" pitchFamily="18" charset="0"/>
              <a:cs typeface="Times New Roman" panose="02020603050405020304" pitchFamily="18" charset="0"/>
            </a:endParaRPr>
          </a:p>
          <a:p>
            <a:pPr marL="57150" algn="just">
              <a:lnSpc>
                <a:spcPct val="90000"/>
              </a:lnSpc>
              <a:spcAft>
                <a:spcPts val="600"/>
              </a:spcAft>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8482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68BF6E-CB82-767C-594E-23267CAD1F56}"/>
              </a:ext>
            </a:extLst>
          </p:cNvPr>
          <p:cNvSpPr txBox="1"/>
          <p:nvPr/>
        </p:nvSpPr>
        <p:spPr>
          <a:xfrm>
            <a:off x="518272" y="294154"/>
            <a:ext cx="11158817"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latin typeface="Times New Roman"/>
                <a:cs typeface="Times New Roman"/>
              </a:rPr>
              <a:t>• Features V1, V2, ... V28 are the principal components obtained with PCA</a:t>
            </a:r>
            <a:endParaRPr lang="en-US" dirty="0">
              <a:latin typeface="Times New Roman"/>
              <a:cs typeface="Times New Roman"/>
            </a:endParaRPr>
          </a:p>
          <a:p>
            <a:r>
              <a:rPr lang="en-GB" dirty="0">
                <a:latin typeface="Times New Roman"/>
                <a:cs typeface="Times New Roman"/>
              </a:rPr>
              <a:t>• The only features which have not been transformed with PCA are Time and Amount. Feature Time contains the seconds elapsed between each transaction and the first 5 transaction in the dataset. The feature Amount is the transaction Amount, this feature can be used for example-dependent cost-sensitive learning. </a:t>
            </a:r>
          </a:p>
          <a:p>
            <a:endParaRPr lang="en-GB" dirty="0">
              <a:latin typeface="Times New Roman"/>
              <a:cs typeface="Times New Roman"/>
            </a:endParaRPr>
          </a:p>
          <a:p>
            <a:r>
              <a:rPr lang="en-GB" b="1" dirty="0">
                <a:latin typeface="Times New Roman"/>
                <a:cs typeface="Times New Roman"/>
              </a:rPr>
              <a:t>Output of first 5 row of the dataset :</a:t>
            </a:r>
          </a:p>
        </p:txBody>
      </p:sp>
      <p:pic>
        <p:nvPicPr>
          <p:cNvPr id="4" name="Picture 3" descr="A screenshot of a calculator">
            <a:extLst>
              <a:ext uri="{FF2B5EF4-FFF2-40B4-BE49-F238E27FC236}">
                <a16:creationId xmlns:a16="http://schemas.microsoft.com/office/drawing/2014/main" id="{A05A8A06-CC83-9F7F-606C-33EC841B9140}"/>
              </a:ext>
            </a:extLst>
          </p:cNvPr>
          <p:cNvPicPr>
            <a:picLocks noChangeAspect="1"/>
          </p:cNvPicPr>
          <p:nvPr/>
        </p:nvPicPr>
        <p:blipFill>
          <a:blip r:embed="rId2"/>
          <a:stretch>
            <a:fillRect/>
          </a:stretch>
        </p:blipFill>
        <p:spPr>
          <a:xfrm>
            <a:off x="843700" y="2045051"/>
            <a:ext cx="10504600" cy="2354913"/>
          </a:xfrm>
          <a:prstGeom prst="rect">
            <a:avLst/>
          </a:prstGeom>
        </p:spPr>
      </p:pic>
      <p:sp>
        <p:nvSpPr>
          <p:cNvPr id="5" name="TextBox 4">
            <a:extLst>
              <a:ext uri="{FF2B5EF4-FFF2-40B4-BE49-F238E27FC236}">
                <a16:creationId xmlns:a16="http://schemas.microsoft.com/office/drawing/2014/main" id="{5C9161BF-5366-E901-D0B0-20A4ACABA0A2}"/>
              </a:ext>
            </a:extLst>
          </p:cNvPr>
          <p:cNvSpPr txBox="1"/>
          <p:nvPr/>
        </p:nvSpPr>
        <p:spPr>
          <a:xfrm>
            <a:off x="521073" y="4712073"/>
            <a:ext cx="5029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dirty="0">
                <a:latin typeface="Times New Roman"/>
                <a:cs typeface="Times New Roman"/>
              </a:rPr>
              <a:t>No Missing values in  the dataset :</a:t>
            </a:r>
          </a:p>
        </p:txBody>
      </p:sp>
      <p:pic>
        <p:nvPicPr>
          <p:cNvPr id="6" name="Picture 5" descr="A black screen with white text&#10;&#10;Description automatically generated">
            <a:extLst>
              <a:ext uri="{FF2B5EF4-FFF2-40B4-BE49-F238E27FC236}">
                <a16:creationId xmlns:a16="http://schemas.microsoft.com/office/drawing/2014/main" id="{5208236D-0A5C-1C6D-5AC4-4F8E2BD9F2BB}"/>
              </a:ext>
            </a:extLst>
          </p:cNvPr>
          <p:cNvPicPr>
            <a:picLocks noChangeAspect="1"/>
          </p:cNvPicPr>
          <p:nvPr/>
        </p:nvPicPr>
        <p:blipFill>
          <a:blip r:embed="rId3"/>
          <a:stretch>
            <a:fillRect/>
          </a:stretch>
        </p:blipFill>
        <p:spPr>
          <a:xfrm>
            <a:off x="4720758" y="5117166"/>
            <a:ext cx="2190189" cy="1352550"/>
          </a:xfrm>
          <a:prstGeom prst="rect">
            <a:avLst/>
          </a:prstGeom>
        </p:spPr>
      </p:pic>
      <p:graphicFrame>
        <p:nvGraphicFramePr>
          <p:cNvPr id="2" name="Object 1">
            <a:hlinkClick r:id="rId4" action="ppaction://hlinkfile"/>
            <a:extLst>
              <a:ext uri="{FF2B5EF4-FFF2-40B4-BE49-F238E27FC236}">
                <a16:creationId xmlns:a16="http://schemas.microsoft.com/office/drawing/2014/main" id="{698B9CD9-7DD9-CC9F-CAE1-E56F486A433C}"/>
              </a:ext>
            </a:extLst>
          </p:cNvPr>
          <p:cNvGraphicFramePr>
            <a:graphicFrameLocks noChangeAspect="1"/>
          </p:cNvGraphicFramePr>
          <p:nvPr>
            <p:extLst>
              <p:ext uri="{D42A27DB-BD31-4B8C-83A1-F6EECF244321}">
                <p14:modId xmlns:p14="http://schemas.microsoft.com/office/powerpoint/2010/main" val="2377272888"/>
              </p:ext>
            </p:extLst>
          </p:nvPr>
        </p:nvGraphicFramePr>
        <p:xfrm>
          <a:off x="1065228" y="6242827"/>
          <a:ext cx="1096979" cy="321019"/>
        </p:xfrm>
        <a:graphic>
          <a:graphicData uri="http://schemas.openxmlformats.org/presentationml/2006/ole">
            <mc:AlternateContent xmlns:mc="http://schemas.openxmlformats.org/markup-compatibility/2006">
              <mc:Choice xmlns:v="urn:schemas-microsoft-com:vml" Requires="v">
                <p:oleObj name="Packager Shell Object" showAsIcon="1" r:id="rId5" imgW="1767982" imgH="517956" progId="Package">
                  <p:embed/>
                </p:oleObj>
              </mc:Choice>
              <mc:Fallback>
                <p:oleObj name="Packager Shell Object" showAsIcon="1" r:id="rId5" imgW="1767982" imgH="517956" progId="Package">
                  <p:embed/>
                  <p:pic>
                    <p:nvPicPr>
                      <p:cNvPr id="0" name=""/>
                      <p:cNvPicPr/>
                      <p:nvPr/>
                    </p:nvPicPr>
                    <p:blipFill>
                      <a:blip r:embed="rId6"/>
                      <a:stretch>
                        <a:fillRect/>
                      </a:stretch>
                    </p:blipFill>
                    <p:spPr>
                      <a:xfrm>
                        <a:off x="1065228" y="6242827"/>
                        <a:ext cx="1096979" cy="321019"/>
                      </a:xfrm>
                      <a:prstGeom prst="rect">
                        <a:avLst/>
                      </a:prstGeom>
                    </p:spPr>
                  </p:pic>
                </p:oleObj>
              </mc:Fallback>
            </mc:AlternateContent>
          </a:graphicData>
        </a:graphic>
      </p:graphicFrame>
    </p:spTree>
    <p:extLst>
      <p:ext uri="{BB962C8B-B14F-4D97-AF65-F5344CB8AC3E}">
        <p14:creationId xmlns:p14="http://schemas.microsoft.com/office/powerpoint/2010/main" val="145776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hlinkClick r:id="rId2"/>
            <a:extLst>
              <a:ext uri="{FF2B5EF4-FFF2-40B4-BE49-F238E27FC236}">
                <a16:creationId xmlns:a16="http://schemas.microsoft.com/office/drawing/2014/main" id="{4344313E-A438-FC83-EEEE-D36770EEB9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93420"/>
            <a:ext cx="12192000" cy="5471160"/>
          </a:xfrm>
          <a:prstGeom prst="rect">
            <a:avLst/>
          </a:prstGeom>
        </p:spPr>
      </p:pic>
      <p:sp>
        <p:nvSpPr>
          <p:cNvPr id="8" name="TextBox 7">
            <a:extLst>
              <a:ext uri="{FF2B5EF4-FFF2-40B4-BE49-F238E27FC236}">
                <a16:creationId xmlns:a16="http://schemas.microsoft.com/office/drawing/2014/main" id="{DC66CEA2-42E1-1027-C1AA-547881FEB2C3}"/>
              </a:ext>
            </a:extLst>
          </p:cNvPr>
          <p:cNvSpPr txBox="1"/>
          <p:nvPr/>
        </p:nvSpPr>
        <p:spPr>
          <a:xfrm>
            <a:off x="1875934" y="301658"/>
            <a:ext cx="8625526" cy="461665"/>
          </a:xfrm>
          <a:prstGeom prst="rect">
            <a:avLst/>
          </a:prstGeom>
          <a:noFill/>
        </p:spPr>
        <p:txBody>
          <a:bodyPr wrap="square" rtlCol="0">
            <a:spAutoFit/>
          </a:bodyPr>
          <a:lstStyle/>
          <a:p>
            <a:pPr algn="ctr"/>
            <a:r>
              <a:rPr lang="en-US" sz="2400" dirty="0">
                <a:latin typeface="Comic Sans MS" panose="030F0702030302020204" pitchFamily="66" charset="0"/>
                <a:cs typeface="Times New Roman" panose="02020603050405020304" pitchFamily="18" charset="0"/>
              </a:rPr>
              <a:t>DASHBOARD</a:t>
            </a:r>
            <a:endParaRPr lang="en-CA" sz="2400" dirty="0">
              <a:latin typeface="Comic Sans MS" panose="030F0702030302020204" pitchFamily="66" charset="0"/>
              <a:cs typeface="Times New Roman" panose="02020603050405020304" pitchFamily="18" charset="0"/>
            </a:endParaRPr>
          </a:p>
        </p:txBody>
      </p:sp>
    </p:spTree>
    <p:extLst>
      <p:ext uri="{BB962C8B-B14F-4D97-AF65-F5344CB8AC3E}">
        <p14:creationId xmlns:p14="http://schemas.microsoft.com/office/powerpoint/2010/main" val="1193437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ED22CB1-D192-EC0C-EB69-4F40D8FA2E4B}"/>
              </a:ext>
            </a:extLst>
          </p:cNvPr>
          <p:cNvPicPr>
            <a:picLocks noChangeAspect="1"/>
          </p:cNvPicPr>
          <p:nvPr/>
        </p:nvPicPr>
        <p:blipFill rotWithShape="1">
          <a:blip r:embed="rId2"/>
          <a:srcRect t="9930"/>
          <a:stretch/>
        </p:blipFill>
        <p:spPr>
          <a:xfrm>
            <a:off x="263951" y="1395167"/>
            <a:ext cx="11642103" cy="4804759"/>
          </a:xfrm>
          <a:prstGeom prst="rect">
            <a:avLst/>
          </a:prstGeom>
        </p:spPr>
      </p:pic>
      <p:sp>
        <p:nvSpPr>
          <p:cNvPr id="7" name="TextBox 6">
            <a:extLst>
              <a:ext uri="{FF2B5EF4-FFF2-40B4-BE49-F238E27FC236}">
                <a16:creationId xmlns:a16="http://schemas.microsoft.com/office/drawing/2014/main" id="{5DE6B8E5-33C2-13DC-AA49-2764B177A998}"/>
              </a:ext>
            </a:extLst>
          </p:cNvPr>
          <p:cNvSpPr txBox="1"/>
          <p:nvPr/>
        </p:nvSpPr>
        <p:spPr>
          <a:xfrm>
            <a:off x="3289956" y="482835"/>
            <a:ext cx="5981410" cy="954107"/>
          </a:xfrm>
          <a:prstGeom prst="rect">
            <a:avLst/>
          </a:prstGeom>
          <a:noFill/>
        </p:spPr>
        <p:txBody>
          <a:bodyPr wrap="square" rtlCol="0">
            <a:spAutoFit/>
          </a:bodyPr>
          <a:lstStyle/>
          <a:p>
            <a:pPr algn="ctr"/>
            <a:r>
              <a:rPr lang="en-US" sz="2800" dirty="0">
                <a:latin typeface="Comic Sans MS" panose="030F0702030302020204" pitchFamily="66" charset="0"/>
              </a:rPr>
              <a:t>Number of Frauds by Province</a:t>
            </a:r>
            <a:r>
              <a:rPr lang="en-CA" sz="2800" dirty="0">
                <a:latin typeface="Times New Roman" panose="02020603050405020304" pitchFamily="18" charset="0"/>
                <a:cs typeface="Times New Roman" panose="02020603050405020304" pitchFamily="18" charset="0"/>
              </a:rPr>
              <a:t> (Anti-Fraud Centre Canada) </a:t>
            </a:r>
            <a:endParaRPr lang="en-CA" sz="2800" dirty="0">
              <a:latin typeface="Comic Sans MS" panose="030F0702030302020204" pitchFamily="66" charset="0"/>
            </a:endParaRPr>
          </a:p>
        </p:txBody>
      </p:sp>
    </p:spTree>
    <p:extLst>
      <p:ext uri="{BB962C8B-B14F-4D97-AF65-F5344CB8AC3E}">
        <p14:creationId xmlns:p14="http://schemas.microsoft.com/office/powerpoint/2010/main" val="3872385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9890C3-26C3-5254-6F61-BEE7A35C0DCE}"/>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Lst>
          </a:blip>
          <a:stretch>
            <a:fillRect/>
          </a:stretch>
        </p:blipFill>
        <p:spPr>
          <a:xfrm>
            <a:off x="380853" y="472460"/>
            <a:ext cx="5319221" cy="4046571"/>
          </a:xfrm>
          <a:prstGeom prst="rect">
            <a:avLst/>
          </a:prstGeom>
        </p:spPr>
      </p:pic>
      <p:pic>
        <p:nvPicPr>
          <p:cNvPr id="5" name="Picture 4">
            <a:extLst>
              <a:ext uri="{FF2B5EF4-FFF2-40B4-BE49-F238E27FC236}">
                <a16:creationId xmlns:a16="http://schemas.microsoft.com/office/drawing/2014/main" id="{BB661762-8DD3-3F1F-CA69-780A3C20BA9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20000"/>
                    </a14:imgEffect>
                  </a14:imgLayer>
                </a14:imgProps>
              </a:ext>
            </a:extLst>
          </a:blip>
          <a:stretch>
            <a:fillRect/>
          </a:stretch>
        </p:blipFill>
        <p:spPr>
          <a:xfrm>
            <a:off x="6096000" y="472460"/>
            <a:ext cx="5875529" cy="4046570"/>
          </a:xfrm>
          <a:prstGeom prst="rect">
            <a:avLst/>
          </a:prstGeom>
        </p:spPr>
      </p:pic>
      <p:sp>
        <p:nvSpPr>
          <p:cNvPr id="10" name="TextBox 9">
            <a:extLst>
              <a:ext uri="{FF2B5EF4-FFF2-40B4-BE49-F238E27FC236}">
                <a16:creationId xmlns:a16="http://schemas.microsoft.com/office/drawing/2014/main" id="{D301BC99-0BF2-27D5-F68A-3EAFB3B4F0C6}"/>
              </a:ext>
            </a:extLst>
          </p:cNvPr>
          <p:cNvSpPr txBox="1"/>
          <p:nvPr/>
        </p:nvSpPr>
        <p:spPr>
          <a:xfrm>
            <a:off x="380853" y="5043809"/>
            <a:ext cx="11590676" cy="1477328"/>
          </a:xfrm>
          <a:prstGeom prst="rect">
            <a:avLst/>
          </a:prstGeom>
          <a:noFill/>
        </p:spPr>
        <p:txBody>
          <a:bodyPr wrap="square" rtlCol="0">
            <a:spAutoFit/>
          </a:bodyPr>
          <a:lstStyle/>
          <a:p>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Credit card fraud is a type of identity theft in which fraudsters make transactions or receive cash advances under your name. This can happen with an existing account, through the loss of your actual credit card, account numbers, and PINs, or by opening new credit card accounts in your name.</a:t>
            </a:r>
          </a:p>
          <a:p>
            <a:r>
              <a:rPr lang="en-CA" dirty="0">
                <a:latin typeface="Times New Roman" panose="02020603050405020304" pitchFamily="18" charset="0"/>
                <a:cs typeface="Times New Roman" panose="02020603050405020304" pitchFamily="18" charset="0"/>
              </a:rPr>
              <a:t>The two most common reported frauds according to Anti-Fraud Centre Canada are Id frauds and Senior Citizens Id fraud which has observed step increase in past three years.</a:t>
            </a:r>
          </a:p>
        </p:txBody>
      </p:sp>
    </p:spTree>
    <p:extLst>
      <p:ext uri="{BB962C8B-B14F-4D97-AF65-F5344CB8AC3E}">
        <p14:creationId xmlns:p14="http://schemas.microsoft.com/office/powerpoint/2010/main" val="16640676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445E5-BB4F-2004-1F8C-84EC13F76550}"/>
              </a:ext>
            </a:extLst>
          </p:cNvPr>
          <p:cNvSpPr>
            <a:spLocks noGrp="1"/>
          </p:cNvSpPr>
          <p:nvPr>
            <p:ph type="title"/>
          </p:nvPr>
        </p:nvSpPr>
        <p:spPr>
          <a:xfrm>
            <a:off x="838200" y="336844"/>
            <a:ext cx="10515600" cy="1325563"/>
          </a:xfrm>
        </p:spPr>
        <p:txBody>
          <a:bodyPr/>
          <a:lstStyle/>
          <a:p>
            <a:pPr algn="ctr"/>
            <a:r>
              <a:rPr lang="en-GB" dirty="0">
                <a:latin typeface="Comic Sans MS"/>
              </a:rPr>
              <a:t>Data Mining Concept/ Method</a:t>
            </a:r>
            <a:endParaRPr lang="en-US" dirty="0"/>
          </a:p>
        </p:txBody>
      </p:sp>
      <p:pic>
        <p:nvPicPr>
          <p:cNvPr id="4" name="Picture 3">
            <a:extLst>
              <a:ext uri="{FF2B5EF4-FFF2-40B4-BE49-F238E27FC236}">
                <a16:creationId xmlns:a16="http://schemas.microsoft.com/office/drawing/2014/main" id="{C688B9ED-659F-ADE4-4A44-41FF4F1966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517" y="1690688"/>
            <a:ext cx="11534440" cy="4812698"/>
          </a:xfrm>
          <a:prstGeom prst="rect">
            <a:avLst/>
          </a:prstGeom>
        </p:spPr>
      </p:pic>
      <p:sp>
        <p:nvSpPr>
          <p:cNvPr id="6" name="TextBox 5">
            <a:extLst>
              <a:ext uri="{FF2B5EF4-FFF2-40B4-BE49-F238E27FC236}">
                <a16:creationId xmlns:a16="http://schemas.microsoft.com/office/drawing/2014/main" id="{E2078E85-2A4E-D268-5991-8149269DF340}"/>
              </a:ext>
            </a:extLst>
          </p:cNvPr>
          <p:cNvSpPr txBox="1"/>
          <p:nvPr/>
        </p:nvSpPr>
        <p:spPr>
          <a:xfrm>
            <a:off x="8672660" y="1875934"/>
            <a:ext cx="1715678" cy="369332"/>
          </a:xfrm>
          <a:prstGeom prst="rect">
            <a:avLst/>
          </a:prstGeom>
          <a:noFill/>
        </p:spPr>
        <p:txBody>
          <a:bodyPr wrap="square" rtlCol="0">
            <a:spAutoFit/>
          </a:bodyPr>
          <a:lstStyle/>
          <a:p>
            <a:endParaRPr lang="en-CA" dirty="0"/>
          </a:p>
        </p:txBody>
      </p:sp>
    </p:spTree>
    <p:extLst>
      <p:ext uri="{BB962C8B-B14F-4D97-AF65-F5344CB8AC3E}">
        <p14:creationId xmlns:p14="http://schemas.microsoft.com/office/powerpoint/2010/main" val="35487035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E17AC-A2D4-DD9C-6FCC-9AB180E3C43E}"/>
              </a:ext>
            </a:extLst>
          </p:cNvPr>
          <p:cNvSpPr>
            <a:spLocks noGrp="1"/>
          </p:cNvSpPr>
          <p:nvPr>
            <p:ph type="title"/>
          </p:nvPr>
        </p:nvSpPr>
        <p:spPr>
          <a:xfrm>
            <a:off x="838200" y="296299"/>
            <a:ext cx="10515600" cy="1325563"/>
          </a:xfrm>
        </p:spPr>
        <p:txBody>
          <a:bodyPr/>
          <a:lstStyle/>
          <a:p>
            <a:pPr algn="ctr"/>
            <a:r>
              <a:rPr lang="en-GB" dirty="0">
                <a:latin typeface="Comic Sans MS"/>
              </a:rPr>
              <a:t>Data Mining Concept/ Method</a:t>
            </a:r>
            <a:endParaRPr lang="en-CA" dirty="0"/>
          </a:p>
        </p:txBody>
      </p:sp>
      <p:sp>
        <p:nvSpPr>
          <p:cNvPr id="15" name="TextBox 14">
            <a:extLst>
              <a:ext uri="{FF2B5EF4-FFF2-40B4-BE49-F238E27FC236}">
                <a16:creationId xmlns:a16="http://schemas.microsoft.com/office/drawing/2014/main" id="{F51A42B0-B12F-70A9-1B96-CFA94F3D9519}"/>
              </a:ext>
            </a:extLst>
          </p:cNvPr>
          <p:cNvSpPr txBox="1"/>
          <p:nvPr/>
        </p:nvSpPr>
        <p:spPr>
          <a:xfrm>
            <a:off x="838200" y="1782313"/>
            <a:ext cx="10794476" cy="5078313"/>
          </a:xfrm>
          <a:prstGeom prst="rect">
            <a:avLst/>
          </a:prstGeom>
          <a:noFill/>
        </p:spPr>
        <p:txBody>
          <a:bodyPr wrap="square">
            <a:spAutoFit/>
          </a:bodyPr>
          <a:lstStyle/>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Unsupervised Anomaly Detection: Isolation Forest is an unsupervised machine learning technique for detecting anomalies or outliers in a dataset.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Use Cases: It's used in various domains like fraud detection, network security, and quality control in manufacturing. It utilizes decision trees to isolate anomalies by randomly partitioning the data, aiming         to find anomalies with fewer splits.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LOF (Local outlier factor Algorithm) considers both the density of the data point and the density of the data point’s immediate surroundings.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One important characteristic of the LOF approach is that the outliers score takes into account the data point’s relative density.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It is possible to assess whether the data point's density is lower than the density of the neighborhood. This scenario suggests the presence of an outlier.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6392381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089EB-D581-9106-3D95-F4B432010ADB}"/>
              </a:ext>
            </a:extLst>
          </p:cNvPr>
          <p:cNvSpPr>
            <a:spLocks noGrp="1"/>
          </p:cNvSpPr>
          <p:nvPr>
            <p:ph type="title"/>
          </p:nvPr>
        </p:nvSpPr>
        <p:spPr/>
        <p:txBody>
          <a:bodyPr/>
          <a:lstStyle/>
          <a:p>
            <a:pPr algn="ctr"/>
            <a:r>
              <a:rPr lang="en-US" dirty="0">
                <a:latin typeface="Comic Sans MS" panose="030F0702030302020204" pitchFamily="66" charset="0"/>
              </a:rPr>
              <a:t>Evaluation from Model </a:t>
            </a:r>
            <a:endParaRPr lang="en-CA" dirty="0">
              <a:latin typeface="Comic Sans MS" panose="030F0702030302020204" pitchFamily="66" charset="0"/>
            </a:endParaRPr>
          </a:p>
        </p:txBody>
      </p:sp>
      <p:sp>
        <p:nvSpPr>
          <p:cNvPr id="5" name="TextBox 4">
            <a:extLst>
              <a:ext uri="{FF2B5EF4-FFF2-40B4-BE49-F238E27FC236}">
                <a16:creationId xmlns:a16="http://schemas.microsoft.com/office/drawing/2014/main" id="{05BDDFEE-1E17-0B92-ECAB-E20CE1C78F8C}"/>
              </a:ext>
            </a:extLst>
          </p:cNvPr>
          <p:cNvSpPr txBox="1"/>
          <p:nvPr/>
        </p:nvSpPr>
        <p:spPr>
          <a:xfrm>
            <a:off x="838200" y="1796973"/>
            <a:ext cx="5883111" cy="4247317"/>
          </a:xfrm>
          <a:prstGeom prst="rect">
            <a:avLst/>
          </a:prstGeom>
          <a:noFill/>
        </p:spPr>
        <p:txBody>
          <a:bodyPr wrap="square">
            <a:spAutoFit/>
          </a:bodyPr>
          <a:lstStyle/>
          <a:p>
            <a:r>
              <a:rPr lang="en-US" b="1" dirty="0"/>
              <a:t>Observations </a:t>
            </a:r>
          </a:p>
          <a:p>
            <a:endParaRPr lang="en-US" dirty="0"/>
          </a:p>
          <a:p>
            <a:pPr marL="285750" indent="-285750">
              <a:buFont typeface="Arial" panose="020B0604020202020204" pitchFamily="34" charset="0"/>
              <a:buChar char="•"/>
            </a:pPr>
            <a:r>
              <a:rPr lang="en-US" dirty="0"/>
              <a:t>Isolation Forest detected 73 errors versus Local Outlier Factor detecting 97 errors.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Isolation Forest has a 99.74% more accurate than LOF of 99.65%.</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When comparing error precision &amp; recall for  2 models , the Isolation Forest performed much better than the LOF as we can see that the detection of fraud cases is around 27 % versus LOF detection rate of just 2 %.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So overall Isolation Forest Method performed much better in determining the fraud cases.</a:t>
            </a:r>
          </a:p>
        </p:txBody>
      </p:sp>
      <p:pic>
        <p:nvPicPr>
          <p:cNvPr id="4" name="Picture 3">
            <a:extLst>
              <a:ext uri="{FF2B5EF4-FFF2-40B4-BE49-F238E27FC236}">
                <a16:creationId xmlns:a16="http://schemas.microsoft.com/office/drawing/2014/main" id="{FCE3665C-F1E8-0E7F-8B37-6EF960EDCB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76425" y="1796973"/>
            <a:ext cx="4762500" cy="4762500"/>
          </a:xfrm>
          <a:prstGeom prst="rect">
            <a:avLst/>
          </a:prstGeom>
        </p:spPr>
      </p:pic>
    </p:spTree>
    <p:extLst>
      <p:ext uri="{BB962C8B-B14F-4D97-AF65-F5344CB8AC3E}">
        <p14:creationId xmlns:p14="http://schemas.microsoft.com/office/powerpoint/2010/main" val="18397414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1225D19-1CD0-4C79-A60E-31ACBE627A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48553" y="4391025"/>
            <a:ext cx="2525536" cy="2247900"/>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
        <p:nvSpPr>
          <p:cNvPr id="2" name="Title 1">
            <a:extLst>
              <a:ext uri="{FF2B5EF4-FFF2-40B4-BE49-F238E27FC236}">
                <a16:creationId xmlns:a16="http://schemas.microsoft.com/office/drawing/2014/main" id="{A42AEBC7-92E6-53F5-6B5A-AEF32A1FBBA0}"/>
              </a:ext>
            </a:extLst>
          </p:cNvPr>
          <p:cNvSpPr>
            <a:spLocks noGrp="1"/>
          </p:cNvSpPr>
          <p:nvPr>
            <p:ph type="title"/>
          </p:nvPr>
        </p:nvSpPr>
        <p:spPr/>
        <p:txBody>
          <a:bodyPr/>
          <a:lstStyle/>
          <a:p>
            <a:pPr algn="ctr"/>
            <a:r>
              <a:rPr lang="en-US" dirty="0">
                <a:latin typeface="Comic Sans MS" panose="030F0702030302020204" pitchFamily="66" charset="0"/>
              </a:rPr>
              <a:t>Recommendation </a:t>
            </a:r>
            <a:endParaRPr lang="en-CA" dirty="0">
              <a:latin typeface="Comic Sans MS" panose="030F0702030302020204" pitchFamily="66" charset="0"/>
            </a:endParaRPr>
          </a:p>
        </p:txBody>
      </p:sp>
      <p:sp>
        <p:nvSpPr>
          <p:cNvPr id="6" name="TextBox 5">
            <a:extLst>
              <a:ext uri="{FF2B5EF4-FFF2-40B4-BE49-F238E27FC236}">
                <a16:creationId xmlns:a16="http://schemas.microsoft.com/office/drawing/2014/main" id="{4B0A0B7A-840E-8458-0B5C-1DA22E7ECB81}"/>
              </a:ext>
            </a:extLst>
          </p:cNvPr>
          <p:cNvSpPr txBox="1"/>
          <p:nvPr/>
        </p:nvSpPr>
        <p:spPr>
          <a:xfrm>
            <a:off x="838200" y="1879224"/>
            <a:ext cx="10515600" cy="286232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Regular checks:</a:t>
            </a:r>
            <a:r>
              <a:rPr kumimoji="0" lang="en-US" altLang="en-US" sz="1800" b="0" i="0" u="none" strike="noStrike" cap="none" normalizeH="0" baseline="0" dirty="0">
                <a:ln>
                  <a:noFill/>
                </a:ln>
                <a:solidFill>
                  <a:schemeClr val="tx1"/>
                </a:solidFill>
                <a:effectLst/>
                <a:latin typeface="Arial" panose="020B0604020202020204" pitchFamily="34" charset="0"/>
              </a:rPr>
              <a:t> Evaluate how well the Isolation Forest model detects fraud regularly. </a:t>
            </a:r>
            <a:br>
              <a:rPr kumimoji="0" lang="en-US" altLang="en-US" sz="1800" b="0" i="0" u="none" strike="noStrike" cap="none" normalizeH="0" baseline="0" dirty="0">
                <a:ln>
                  <a:noFill/>
                </a:ln>
                <a:solidFill>
                  <a:schemeClr val="tx1"/>
                </a:solidFill>
                <a:effectLst/>
                <a:latin typeface="Arial" panose="020B0604020202020204" pitchFamily="34" charset="0"/>
              </a:rPr>
            </a:br>
            <a:br>
              <a:rPr kumimoji="0" lang="en-US" altLang="en-US" sz="1800" b="0" i="0" u="none" strike="noStrike" cap="none" normalizeH="0" baseline="0" dirty="0">
                <a:ln>
                  <a:noFill/>
                </a:ln>
                <a:solidFill>
                  <a:schemeClr val="tx1"/>
                </a:solidFill>
                <a:effectLst/>
                <a:latin typeface="Arial" panose="020B0604020202020204" pitchFamily="34" charset="0"/>
              </a:rPr>
            </a:br>
            <a:r>
              <a:rPr lang="en-US" altLang="en-US" b="1" dirty="0">
                <a:latin typeface="Arial" panose="020B0604020202020204" pitchFamily="34" charset="0"/>
              </a:rPr>
              <a:t>I</a:t>
            </a:r>
            <a:r>
              <a:rPr kumimoji="0" lang="en-US" altLang="en-US" sz="1800" b="1" i="0" u="none" strike="noStrike" cap="none" normalizeH="0" baseline="0" dirty="0">
                <a:ln>
                  <a:noFill/>
                </a:ln>
                <a:solidFill>
                  <a:schemeClr val="tx1"/>
                </a:solidFill>
                <a:effectLst/>
                <a:latin typeface="Arial" panose="020B0604020202020204" pitchFamily="34" charset="0"/>
              </a:rPr>
              <a:t>mportant Features:</a:t>
            </a:r>
            <a:r>
              <a:rPr kumimoji="0" lang="en-US" altLang="en-US" sz="1800" b="0" i="0" u="none" strike="noStrike" cap="none" normalizeH="0" baseline="0" dirty="0">
                <a:ln>
                  <a:noFill/>
                </a:ln>
                <a:solidFill>
                  <a:schemeClr val="tx1"/>
                </a:solidFill>
                <a:effectLst/>
                <a:latin typeface="Arial" panose="020B0604020202020204" pitchFamily="34" charset="0"/>
              </a:rPr>
              <a:t> Determine the characteristics the model believes are essential for detecting fraud. </a:t>
            </a:r>
            <a:br>
              <a:rPr kumimoji="0" lang="en-US" altLang="en-US" sz="1800" b="0" i="0" u="none" strike="noStrike" cap="none" normalizeH="0" baseline="0" dirty="0">
                <a:ln>
                  <a:noFill/>
                </a:ln>
                <a:solidFill>
                  <a:schemeClr val="tx1"/>
                </a:solidFill>
                <a:effectLst/>
                <a:latin typeface="Arial" panose="020B0604020202020204" pitchFamily="34" charset="0"/>
              </a:rPr>
            </a:b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1" i="0" u="none" strike="noStrike" cap="none" normalizeH="0" baseline="0" dirty="0">
                <a:ln>
                  <a:noFill/>
                </a:ln>
                <a:solidFill>
                  <a:schemeClr val="tx1"/>
                </a:solidFill>
                <a:effectLst/>
                <a:latin typeface="Arial" panose="020B0604020202020204" pitchFamily="34" charset="0"/>
              </a:rPr>
              <a:t>Adjust Threshold</a:t>
            </a:r>
            <a:r>
              <a:rPr kumimoji="0" lang="en-US" altLang="en-US" sz="1800" b="0" i="0" u="none" strike="noStrike" cap="none" normalizeH="0" baseline="0" dirty="0">
                <a:ln>
                  <a:noFill/>
                </a:ln>
                <a:solidFill>
                  <a:schemeClr val="tx1"/>
                </a:solidFill>
                <a:effectLst/>
                <a:latin typeface="Arial" panose="020B0604020202020204" pitchFamily="34" charset="0"/>
              </a:rPr>
              <a:t>: Determine the sensitivity to detecting fraud depending on the number of errors it encounters. </a:t>
            </a:r>
            <a:br>
              <a:rPr kumimoji="0" lang="en-US" altLang="en-US" sz="1800" b="0" i="0" u="none" strike="noStrike" cap="none" normalizeH="0" baseline="0" dirty="0">
                <a:ln>
                  <a:noFill/>
                </a:ln>
                <a:solidFill>
                  <a:schemeClr val="tx1"/>
                </a:solidFill>
                <a:effectLst/>
                <a:latin typeface="Arial" panose="020B0604020202020204" pitchFamily="34" charset="0"/>
              </a:rPr>
            </a:br>
            <a:br>
              <a:rPr kumimoji="0" lang="en-US" altLang="en-US" sz="1800" b="0" i="0" u="none" strike="noStrike" cap="none" normalizeH="0" baseline="0" dirty="0">
                <a:ln>
                  <a:noFill/>
                </a:ln>
                <a:solidFill>
                  <a:schemeClr val="tx1"/>
                </a:solidFill>
                <a:effectLst/>
                <a:latin typeface="Arial" panose="020B0604020202020204" pitchFamily="34" charset="0"/>
              </a:rPr>
            </a:b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958618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1D58DF-6663-A447-1726-667D531931C5}"/>
              </a:ext>
            </a:extLst>
          </p:cNvPr>
          <p:cNvSpPr>
            <a:spLocks noGrp="1"/>
          </p:cNvSpPr>
          <p:nvPr>
            <p:ph type="title"/>
          </p:nvPr>
        </p:nvSpPr>
        <p:spPr>
          <a:xfrm>
            <a:off x="6260760" y="108345"/>
            <a:ext cx="4977976" cy="1454051"/>
          </a:xfrm>
        </p:spPr>
        <p:txBody>
          <a:bodyPr>
            <a:normAutofit/>
          </a:bodyPr>
          <a:lstStyle/>
          <a:p>
            <a:r>
              <a:rPr lang="en-US" sz="3600" b="1" u="sng" dirty="0">
                <a:solidFill>
                  <a:schemeClr val="tx2"/>
                </a:solidFill>
              </a:rPr>
              <a:t>Potential Solutions:</a:t>
            </a:r>
            <a:endParaRPr lang="en-CA" sz="3600" b="1" u="sng" dirty="0">
              <a:solidFill>
                <a:schemeClr val="tx2"/>
              </a:solidFill>
            </a:endParaRPr>
          </a:p>
        </p:txBody>
      </p:sp>
      <p:pic>
        <p:nvPicPr>
          <p:cNvPr id="7" name="Graphic 6" descr="Person with Idea">
            <a:extLst>
              <a:ext uri="{FF2B5EF4-FFF2-40B4-BE49-F238E27FC236}">
                <a16:creationId xmlns:a16="http://schemas.microsoft.com/office/drawing/2014/main" id="{7FF664DF-84BE-FC31-AE6F-15CC73CE10F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D119FA6E-F133-BEC1-E258-7D60B23F321E}"/>
              </a:ext>
            </a:extLst>
          </p:cNvPr>
          <p:cNvSpPr>
            <a:spLocks noGrp="1"/>
          </p:cNvSpPr>
          <p:nvPr>
            <p:ph idx="1"/>
          </p:nvPr>
        </p:nvSpPr>
        <p:spPr>
          <a:xfrm>
            <a:off x="6096000" y="1793846"/>
            <a:ext cx="5849960" cy="4830474"/>
          </a:xfrm>
        </p:spPr>
        <p:txBody>
          <a:bodyPr anchor="ctr">
            <a:noAutofit/>
          </a:bodyPr>
          <a:lstStyle/>
          <a:p>
            <a:pPr marL="514350" indent="-514350">
              <a:buAutoNum type="arabicPeriod"/>
            </a:pPr>
            <a:r>
              <a:rPr lang="en-US" sz="1600" b="1" dirty="0">
                <a:solidFill>
                  <a:schemeClr val="tx2"/>
                </a:solidFill>
                <a:ea typeface="+mn-lt"/>
                <a:cs typeface="+mn-lt"/>
              </a:rPr>
              <a:t>Implement Behavioral Analytics</a:t>
            </a:r>
            <a:r>
              <a:rPr lang="en-US" sz="1600" dirty="0">
                <a:solidFill>
                  <a:schemeClr val="tx2"/>
                </a:solidFill>
                <a:ea typeface="+mn-lt"/>
                <a:cs typeface="+mn-lt"/>
              </a:rPr>
              <a:t>: The use of behavioral analytics can aid in the detection of out-of-the-ordinary trends or changes in a customer's usual purchasing habits. </a:t>
            </a:r>
          </a:p>
          <a:p>
            <a:pPr marL="514350" indent="-514350">
              <a:buAutoNum type="arabicPeriod"/>
            </a:pPr>
            <a:r>
              <a:rPr lang="en-US" sz="1600" b="1" dirty="0">
                <a:solidFill>
                  <a:schemeClr val="tx2"/>
                </a:solidFill>
                <a:ea typeface="+mn-lt"/>
                <a:cs typeface="+mn-lt"/>
              </a:rPr>
              <a:t>Enhance Data Security Measures</a:t>
            </a:r>
            <a:r>
              <a:rPr lang="en-US" sz="1600" dirty="0">
                <a:solidFill>
                  <a:schemeClr val="tx2"/>
                </a:solidFill>
                <a:ea typeface="+mn-lt"/>
                <a:cs typeface="+mn-lt"/>
              </a:rPr>
              <a:t>: Strengthening data security measures is crucial to protect sensitive customer information from falling into the wrong hands.</a:t>
            </a:r>
            <a:endParaRPr lang="en-US" sz="1600" dirty="0">
              <a:solidFill>
                <a:schemeClr val="tx2"/>
              </a:solidFill>
            </a:endParaRPr>
          </a:p>
          <a:p>
            <a:pPr marL="514350" indent="-514350">
              <a:buAutoNum type="arabicPeriod"/>
            </a:pPr>
            <a:r>
              <a:rPr lang="en-US" sz="1600" b="1" dirty="0">
                <a:solidFill>
                  <a:schemeClr val="tx2"/>
                </a:solidFill>
                <a:ea typeface="+mn-lt"/>
                <a:cs typeface="+mn-lt"/>
              </a:rPr>
              <a:t>Educate Customers on Fraud Prevention:</a:t>
            </a:r>
            <a:r>
              <a:rPr lang="en-US" sz="1600" dirty="0">
                <a:solidFill>
                  <a:schemeClr val="tx2"/>
                </a:solidFill>
                <a:ea typeface="+mn-lt"/>
                <a:cs typeface="+mn-lt"/>
              </a:rPr>
              <a:t> It is possible to empower customers to identify and report suspicious activities by educating them about common fraud schemes, phishing scams, and best practices for safeguarding their personal and financial information.</a:t>
            </a:r>
          </a:p>
          <a:p>
            <a:pPr marL="514350" indent="-514350">
              <a:buAutoNum type="arabicPeriod"/>
            </a:pPr>
            <a:r>
              <a:rPr lang="en-US" sz="1600" b="1" dirty="0">
                <a:solidFill>
                  <a:schemeClr val="tx2"/>
                </a:solidFill>
                <a:ea typeface="+mn-lt"/>
                <a:cs typeface="+mn-lt"/>
              </a:rPr>
              <a:t>Fraud Alerts: </a:t>
            </a:r>
            <a:r>
              <a:rPr lang="en-US" sz="1600" dirty="0">
                <a:solidFill>
                  <a:schemeClr val="tx2"/>
                </a:solidFill>
                <a:ea typeface="+mn-lt"/>
                <a:cs typeface="+mn-lt"/>
              </a:rPr>
              <a:t>Banks may provide customers with the option to receive real-time fraud alerts via SMS, email, or mobile apps, notifying them of potentially suspicious activity.</a:t>
            </a:r>
            <a:endParaRPr lang="en-US" sz="1600" dirty="0">
              <a:solidFill>
                <a:schemeClr val="tx2"/>
              </a:solidFill>
            </a:endParaRPr>
          </a:p>
          <a:p>
            <a:pPr marL="0" indent="0">
              <a:buNone/>
            </a:pPr>
            <a:endParaRPr lang="en-US" sz="1600" dirty="0">
              <a:solidFill>
                <a:schemeClr val="tx2"/>
              </a:solidFill>
              <a:ea typeface="+mn-lt"/>
              <a:cs typeface="+mn-lt"/>
            </a:endParaRPr>
          </a:p>
          <a:p>
            <a:endParaRPr lang="en-CA" sz="1600" dirty="0">
              <a:solidFill>
                <a:schemeClr val="tx2"/>
              </a:solidFill>
            </a:endParaRP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1679070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2EDDC-6E7A-41CF-0369-B0B82289FD87}"/>
              </a:ext>
            </a:extLst>
          </p:cNvPr>
          <p:cNvSpPr>
            <a:spLocks noGrp="1"/>
          </p:cNvSpPr>
          <p:nvPr>
            <p:ph type="title"/>
          </p:nvPr>
        </p:nvSpPr>
        <p:spPr>
          <a:xfrm>
            <a:off x="3017756" y="2561570"/>
            <a:ext cx="6156488" cy="1325563"/>
          </a:xfrm>
        </p:spPr>
        <p:txBody>
          <a:bodyPr>
            <a:normAutofit/>
          </a:bodyPr>
          <a:lstStyle/>
          <a:p>
            <a:r>
              <a:rPr lang="en-CA" sz="8800" dirty="0"/>
              <a:t>THANK YOU</a:t>
            </a:r>
          </a:p>
        </p:txBody>
      </p:sp>
    </p:spTree>
    <p:extLst>
      <p:ext uri="{BB962C8B-B14F-4D97-AF65-F5344CB8AC3E}">
        <p14:creationId xmlns:p14="http://schemas.microsoft.com/office/powerpoint/2010/main" val="390215981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277</TotalTime>
  <Words>1004</Words>
  <Application>Microsoft Office PowerPoint</Application>
  <PresentationFormat>Widescreen</PresentationFormat>
  <Paragraphs>70</Paragraphs>
  <Slides>17</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25" baseType="lpstr">
      <vt:lpstr>Aptos</vt:lpstr>
      <vt:lpstr>Aptos Display</vt:lpstr>
      <vt:lpstr>Arial</vt:lpstr>
      <vt:lpstr>Calibri</vt:lpstr>
      <vt:lpstr>Comic Sans MS</vt:lpstr>
      <vt:lpstr>Times New Roman</vt:lpstr>
      <vt:lpstr>Office Theme</vt:lpstr>
      <vt:lpstr>Packager Shell Object</vt:lpstr>
      <vt:lpstr>Credit Card Fraud Detection</vt:lpstr>
      <vt:lpstr>Outline</vt:lpstr>
      <vt:lpstr>Business Problems</vt:lpstr>
      <vt:lpstr>Types of Frauds  Card Skimming Online Fraud Lost or Stolen Cards Identity Theft Account Takeover Phishing Attack Counterfeit Cards </vt:lpstr>
      <vt:lpstr>Background of Organization</vt:lpstr>
      <vt:lpstr>Impact of the Frauds </vt:lpstr>
      <vt:lpstr>Data Description</vt:lpstr>
      <vt:lpstr>PowerPoint Presentation</vt:lpstr>
      <vt:lpstr>PowerPoint Presentation</vt:lpstr>
      <vt:lpstr>PowerPoint Presentation</vt:lpstr>
      <vt:lpstr>PowerPoint Presentation</vt:lpstr>
      <vt:lpstr>Data Mining Concept/ Method</vt:lpstr>
      <vt:lpstr>Data Mining Concept/ Method</vt:lpstr>
      <vt:lpstr>Evaluation from Model </vt:lpstr>
      <vt:lpstr>Recommendation </vt:lpstr>
      <vt:lpstr>Potential Solutions: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Ashir Mansuri</dc:creator>
  <cp:lastModifiedBy>Ritik Kataria</cp:lastModifiedBy>
  <cp:revision>444</cp:revision>
  <dcterms:created xsi:type="dcterms:W3CDTF">2024-04-02T02:37:18Z</dcterms:created>
  <dcterms:modified xsi:type="dcterms:W3CDTF">2025-07-31T22:12:46Z</dcterms:modified>
</cp:coreProperties>
</file>